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3"/>
  </p:notesMasterIdLst>
  <p:sldIdLst>
    <p:sldId id="256" r:id="rId2"/>
    <p:sldId id="258" r:id="rId3"/>
    <p:sldId id="259" r:id="rId4"/>
    <p:sldId id="288" r:id="rId5"/>
    <p:sldId id="289" r:id="rId6"/>
    <p:sldId id="294" r:id="rId7"/>
    <p:sldId id="271" r:id="rId8"/>
    <p:sldId id="269" r:id="rId9"/>
    <p:sldId id="270" r:id="rId10"/>
    <p:sldId id="268" r:id="rId11"/>
    <p:sldId id="284" r:id="rId12"/>
    <p:sldId id="263" r:id="rId13"/>
    <p:sldId id="275" r:id="rId14"/>
    <p:sldId id="272" r:id="rId15"/>
    <p:sldId id="274" r:id="rId16"/>
    <p:sldId id="273" r:id="rId17"/>
    <p:sldId id="276" r:id="rId18"/>
    <p:sldId id="278" r:id="rId19"/>
    <p:sldId id="279" r:id="rId20"/>
    <p:sldId id="281" r:id="rId21"/>
    <p:sldId id="264" r:id="rId22"/>
    <p:sldId id="282" r:id="rId23"/>
    <p:sldId id="287" r:id="rId24"/>
    <p:sldId id="286" r:id="rId25"/>
    <p:sldId id="283" r:id="rId26"/>
    <p:sldId id="265" r:id="rId27"/>
    <p:sldId id="291" r:id="rId28"/>
    <p:sldId id="292" r:id="rId29"/>
    <p:sldId id="266" r:id="rId30"/>
    <p:sldId id="293" r:id="rId31"/>
    <p:sldId id="267" r:id="rId32"/>
  </p:sldIdLst>
  <p:sldSz cx="12192000" cy="6858000"/>
  <p:notesSz cx="6858000" cy="9144000"/>
  <p:embeddedFontLst>
    <p:embeddedFont>
      <p:font typeface="나눔스퀘어_ac" panose="020B0600000101010101" pitchFamily="50" charset="-127"/>
      <p:regular r:id="rId34"/>
    </p:embeddedFont>
    <p:embeddedFont>
      <p:font typeface="Cambria Math" panose="02040503050406030204" pitchFamily="18" charset="0"/>
      <p:regular r:id="rId35"/>
    </p:embeddedFont>
    <p:embeddedFont>
      <p:font typeface="나눔스퀘어_ac Bold" panose="020B0600000101010101" pitchFamily="50" charset="-127"/>
      <p:bold r:id="rId36"/>
    </p:embeddedFont>
    <p:embeddedFont>
      <p:font typeface="맑은 고딕" panose="020B0503020000020004" pitchFamily="50" charset="-127"/>
      <p:regular r:id="rId37"/>
      <p:bold r:id="rId3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33AE1E"/>
    <a:srgbClr val="006600"/>
    <a:srgbClr val="747474"/>
    <a:srgbClr val="D6D6D6"/>
    <a:srgbClr val="C05720"/>
    <a:srgbClr val="881E7D"/>
    <a:srgbClr val="40748D"/>
    <a:srgbClr val="F89A90"/>
    <a:srgbClr val="EDF1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>
        <p:scale>
          <a:sx n="75" d="100"/>
          <a:sy n="75" d="100"/>
        </p:scale>
        <p:origin x="1962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9F5B28-63DC-4FFF-B65E-539FF6603E9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89AA7-247D-4A0F-912D-C2B20E75F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425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89AA7-247D-4A0F-912D-C2B20E75F4E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95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67E14-E56F-9C88-9043-2A13E5849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BF1B74-027E-A510-FF41-310BD82F6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AB62CF-803C-2932-2D87-6AC243B67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3AEC3C-62EA-2153-FB10-F7799E1B8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89AA7-247D-4A0F-912D-C2B20E75F4E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333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89AA7-247D-4A0F-912D-C2B20E75F4E6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109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07A29-D641-C2AF-75DE-BAF2B99E2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9790AE-1064-4A4A-2B5F-A6457FB98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D81DFB-189C-44C6-F209-1DA874157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DEB1CB-774B-26F0-1D71-BE6873014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89AA7-247D-4A0F-912D-C2B20E75F4E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083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4706-6DF8-D0F3-5E4C-2A9394F71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F7C64A-AE78-5A73-5155-500F52835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612A1A-D660-43C3-A4C3-895DB2BF2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288504-2067-CDD7-1A37-83E9573DD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89AA7-247D-4A0F-912D-C2B20E75F4E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229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89AA7-247D-4A0F-912D-C2B20E75F4E6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056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25F561-B21A-A233-EB77-735993A1E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780BCFC-2689-D8E7-D246-B6A78BCC6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D18BCE-1FBC-5303-66D7-B7185DFB5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6B0DE-FF31-4AC7-B898-CEF0715CB3BA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E12486-AC87-42DF-6683-9FC11980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AED466-43BB-545E-AB2D-26F55AF5A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7CE67-1502-4D72-A29D-BAA32F20B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562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7F0CE-65EA-37E4-0102-98D646544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681036"/>
            <a:ext cx="10706100" cy="711201"/>
          </a:xfrm>
        </p:spPr>
        <p:txBody>
          <a:bodyPr/>
          <a:lstStyle>
            <a:lvl1pPr>
              <a:defRPr>
                <a:latin typeface="나눔스퀘어_ac Bold" panose="020B0600000101010101" pitchFamily="50" charset="-127"/>
                <a:ea typeface="나눔스퀘어_ac 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BA92C9-AEFD-99C7-EBA9-5149D51B4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474" y="1571625"/>
            <a:ext cx="10706099" cy="4605338"/>
          </a:xfrm>
        </p:spPr>
        <p:txBody>
          <a:bodyPr/>
          <a:lstStyle>
            <a:lvl1pPr>
              <a:defRPr>
                <a:latin typeface="나눔스퀘어_ac Bold" panose="020B0600000101010101" pitchFamily="50" charset="-127"/>
                <a:ea typeface="나눔스퀘어_ac Bold" panose="020B0600000101010101" pitchFamily="50" charset="-127"/>
              </a:defRPr>
            </a:lvl1pPr>
            <a:lvl2pPr>
              <a:defRPr>
                <a:latin typeface="나눔스퀘어_ac Bold" panose="020B0600000101010101" pitchFamily="50" charset="-127"/>
                <a:ea typeface="나눔스퀘어_ac Bold" panose="020B0600000101010101" pitchFamily="50" charset="-127"/>
              </a:defRPr>
            </a:lvl2pPr>
            <a:lvl3pPr>
              <a:defRPr>
                <a:latin typeface="나눔스퀘어_ac Bold" panose="020B0600000101010101" pitchFamily="50" charset="-127"/>
                <a:ea typeface="나눔스퀘어_ac Bold" panose="020B0600000101010101" pitchFamily="50" charset="-127"/>
              </a:defRPr>
            </a:lvl3pPr>
            <a:lvl4pPr>
              <a:defRPr>
                <a:latin typeface="나눔스퀘어_ac Bold" panose="020B0600000101010101" pitchFamily="50" charset="-127"/>
                <a:ea typeface="나눔스퀘어_ac Bold" panose="020B0600000101010101" pitchFamily="50" charset="-127"/>
              </a:defRPr>
            </a:lvl4pPr>
            <a:lvl5pPr>
              <a:defRPr>
                <a:latin typeface="나눔스퀘어_ac Bold" panose="020B0600000101010101" pitchFamily="50" charset="-127"/>
                <a:ea typeface="나눔스퀘어_ac Bold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27D139-4A3D-D8AC-DD38-0480A1E6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6B0DE-FF31-4AC7-B898-CEF0715CB3BA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AA0C94-FFD6-3DD7-2FA6-ACD45B65D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16EA22-24A1-83BC-3A0D-F430883AE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7CE67-1502-4D72-A29D-BAA32F20B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967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8452D5-84DB-6C91-F8ED-671D61266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DFFAD8-1247-DD69-3028-9F35C14D6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CAC4F0-F29A-E473-4764-B30BF1801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6B0DE-FF31-4AC7-B898-CEF0715CB3BA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1FEC51-1105-8E73-A099-91144A21C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AABD6E-2E09-0F37-2B8E-895580D4B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7CE67-1502-4D72-A29D-BAA32F20B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267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72C16-24F1-717E-3F12-E84FD98C8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E5DD68-A583-963C-4E50-8EBCC6CA4A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6B9941-E97C-3FF0-B361-C28DD3D85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E59732-FD6C-3352-84F8-B222B13A4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6B0DE-FF31-4AC7-B898-CEF0715CB3BA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9A4160-B53B-DC32-744C-302015B9A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118FDD-7945-4186-8D65-C4C715C4E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7CE67-1502-4D72-A29D-BAA32F20B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734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58EE85-5398-DE37-ED37-7A70947A0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DEF1BD-18D9-C3FA-C4E9-A3A66527A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C86605-F9D0-4DF4-3C3F-E9A999C9B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BF042BC-A20D-1D6D-89CC-D81D2B2FB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363FE2-3D7E-6BB8-1F8F-C1E8B8C4E3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372321-1CBD-BB0F-0652-5946E484A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6B0DE-FF31-4AC7-B898-CEF0715CB3BA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FA8C97-FE2E-19A3-4A7A-9B59F8454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4F7F81D-84EF-379F-352D-72A60EDF7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7CE67-1502-4D72-A29D-BAA32F20B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099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CC0194-4FF9-59FA-2466-70B4F17AE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B4A8B4-0268-DD01-43DF-0EEA2D155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6B0DE-FF31-4AC7-B898-CEF0715CB3BA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C01D0C-2E63-43E5-CA2D-0E9979231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6BA8FF-C3A8-6819-9050-A505D6C07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7CE67-1502-4D72-A29D-BAA32F20B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855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8890E72-CCCF-1930-3E6C-ACC0DA096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6B0DE-FF31-4AC7-B898-CEF0715CB3BA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BA03882-F128-9C72-EBB5-50DF8DF44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0098BE-586A-4DED-D354-4B4427990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7CE67-1502-4D72-A29D-BAA32F20B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734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59E51-F9BB-E807-9B77-93A9A71BF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69E8E3-4E1D-D660-8A29-A18D866E5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DF3E36-0892-620A-BCFD-40BBB2DDD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9704CF-F28E-74B2-60E3-54225A6F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6B0DE-FF31-4AC7-B898-CEF0715CB3BA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771075-8AA3-A4A2-E928-D2A7FC75C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3001AF-B7F1-5C44-D182-8A462BF34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7CE67-1502-4D72-A29D-BAA32F20B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206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2A660E-3B09-5E4F-B098-1B054346B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FD9C940-F652-54AD-3BD6-6E6F1BC294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B7FE08-3F4C-2E5F-98E7-4BA3F9BC1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2AEF73-3481-9CC0-D968-FFA894C37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6B0DE-FF31-4AC7-B898-CEF0715CB3BA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1684AB-6468-41CD-31BB-4C51D051B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8A0EC6-E063-E68E-104C-AA5FAD0A8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7CE67-1502-4D72-A29D-BAA32F20B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365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A32B3-E93A-7E2B-DE51-A8DA568E8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E105B5-B959-E974-4544-0106F7B27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516B08-B988-B783-C816-E246E5F6E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6B0DE-FF31-4AC7-B898-CEF0715CB3BA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F282F1-77F1-9216-FCEF-7C4B40A73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7F3AEB-E44B-D0E1-06EC-188F533D1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7CE67-1502-4D72-A29D-BAA32F20B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98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5940949-B5D7-0A00-525D-06ADD6F3B2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11C166-DD2B-84CD-51C0-D97D5C789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9D0CA4-9625-B7B6-DF1C-64A4C3580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6B0DE-FF31-4AC7-B898-CEF0715CB3BA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53B389-737B-2E8E-D03E-5742D4C86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B93E7E-0F65-4E8A-BD0B-A76A2865E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7CE67-1502-4D72-A29D-BAA32F20B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373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6237354-4742-8D50-30B7-506730A26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5E2E76-8D92-0E8C-C671-2FC8562C5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C520D7-2EF9-3335-4C0B-1806266E8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06B0DE-FF31-4AC7-B898-CEF0715CB3BA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1EB310-2837-7FB2-AE6C-C0B96502D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ACB398-A555-CAA4-B69F-87658B45D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E7CE67-1502-4D72-A29D-BAA32F20B4F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CD52B4-FBA7-C662-45AF-9DFBBF5052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B57448C-804B-0C29-9421-6FAFB9C7F8B4}"/>
              </a:ext>
            </a:extLst>
          </p:cNvPr>
          <p:cNvSpPr/>
          <p:nvPr userDrawn="1"/>
        </p:nvSpPr>
        <p:spPr>
          <a:xfrm>
            <a:off x="535132" y="462467"/>
            <a:ext cx="11121736" cy="5933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EA74D53-7E6C-83D7-48FB-84324C85170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35000"/>
            <a:duotone>
              <a:prstClr val="black"/>
              <a:schemeClr val="tx1">
                <a:tint val="45000"/>
                <a:satMod val="400000"/>
              </a:schemeClr>
            </a:duotone>
          </a:blip>
          <a:srcRect r="31454" b="29473"/>
          <a:stretch>
            <a:fillRect/>
          </a:stretch>
        </p:blipFill>
        <p:spPr>
          <a:xfrm>
            <a:off x="6231637" y="813525"/>
            <a:ext cx="5425231" cy="558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76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8E0703F-19F5-B1D0-7C10-44CFBAACC7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F42BD15-7757-25D6-5C39-C4FC42A57CB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r="24693" b="23630"/>
          <a:stretch>
            <a:fillRect/>
          </a:stretch>
        </p:blipFill>
        <p:spPr>
          <a:xfrm>
            <a:off x="6231637" y="813525"/>
            <a:ext cx="5960364" cy="6044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418434-3B46-7209-EA58-4CDF651ABDC1}"/>
              </a:ext>
            </a:extLst>
          </p:cNvPr>
          <p:cNvSpPr txBox="1"/>
          <p:nvPr/>
        </p:nvSpPr>
        <p:spPr>
          <a:xfrm>
            <a:off x="628650" y="2316163"/>
            <a:ext cx="9734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0" dirty="0">
                <a:solidFill>
                  <a:schemeClr val="bg1"/>
                </a:solidFill>
                <a:effectLst>
                  <a:glow rad="101600">
                    <a:schemeClr val="bg2">
                      <a:lumMod val="50000"/>
                      <a:alpha val="60000"/>
                    </a:scheme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Measure Trace</a:t>
            </a:r>
            <a:endParaRPr lang="ko-KR" altLang="en-US" sz="8000" dirty="0">
              <a:solidFill>
                <a:schemeClr val="bg1"/>
              </a:solidFill>
              <a:effectLst>
                <a:glow rad="101600">
                  <a:schemeClr val="bg2">
                    <a:lumMod val="50000"/>
                    <a:alpha val="60000"/>
                  </a:schemeClr>
                </a:glow>
              </a:effectLst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404D82-A49D-14E3-9C9E-10B52627B41D}"/>
              </a:ext>
            </a:extLst>
          </p:cNvPr>
          <p:cNvSpPr txBox="1"/>
          <p:nvPr/>
        </p:nvSpPr>
        <p:spPr>
          <a:xfrm>
            <a:off x="628650" y="3639602"/>
            <a:ext cx="8796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2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원시 측정값부터 보고 문장까지 증거 사슬을 </a:t>
            </a:r>
            <a:r>
              <a:rPr lang="ko-KR" altLang="ko-KR" sz="2000" dirty="0" err="1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재계산·검증하는</a:t>
            </a:r>
            <a:r>
              <a:rPr lang="ko-KR" altLang="ko-KR" sz="2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연구 데이터 감사 </a:t>
            </a:r>
            <a:r>
              <a:rPr lang="ko-KR" altLang="ko-KR" sz="2000" dirty="0" err="1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Agent</a:t>
            </a:r>
            <a:endParaRPr lang="ko-KR" altLang="en-US" sz="2000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07D655-EC0C-A88D-E8EA-5B08A4E42041}"/>
              </a:ext>
            </a:extLst>
          </p:cNvPr>
          <p:cNvSpPr txBox="1"/>
          <p:nvPr/>
        </p:nvSpPr>
        <p:spPr>
          <a:xfrm>
            <a:off x="628650" y="4754345"/>
            <a:ext cx="35445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err="1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나원</a:t>
            </a:r>
            <a:r>
              <a:rPr lang="en-US" altLang="ko-KR" sz="14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AI] </a:t>
            </a:r>
            <a:r>
              <a:rPr lang="ko-KR" altLang="en-US" sz="1400" dirty="0" err="1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고연준</a:t>
            </a:r>
            <a:r>
              <a:rPr lang="en-US" altLang="ko-KR" sz="14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 err="1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성현중</a:t>
            </a:r>
            <a:r>
              <a:rPr lang="en-US" altLang="ko-KR" sz="14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 err="1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양서경</a:t>
            </a:r>
            <a:r>
              <a:rPr lang="en-US" altLang="ko-KR" sz="14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이나원</a:t>
            </a:r>
            <a:r>
              <a:rPr lang="en-US" altLang="ko-KR" sz="14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 err="1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형원희</a:t>
            </a:r>
            <a:endParaRPr lang="ko-KR" altLang="en-US" sz="1400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B03E0F-2CB6-00B9-B737-3D30651C7396}"/>
              </a:ext>
            </a:extLst>
          </p:cNvPr>
          <p:cNvSpPr txBox="1"/>
          <p:nvPr/>
        </p:nvSpPr>
        <p:spPr>
          <a:xfrm>
            <a:off x="628650" y="5047751"/>
            <a:ext cx="1117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성균관대학교</a:t>
            </a:r>
          </a:p>
        </p:txBody>
      </p:sp>
    </p:spTree>
    <p:extLst>
      <p:ext uri="{BB962C8B-B14F-4D97-AF65-F5344CB8AC3E}">
        <p14:creationId xmlns:p14="http://schemas.microsoft.com/office/powerpoint/2010/main" val="2093249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4E4152F-1B3A-E1ED-D208-25E84723A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목차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F295250-6556-16F2-EC0D-FB67557C73EC}"/>
              </a:ext>
            </a:extLst>
          </p:cNvPr>
          <p:cNvGrpSpPr/>
          <p:nvPr/>
        </p:nvGrpSpPr>
        <p:grpSpPr>
          <a:xfrm>
            <a:off x="4029359" y="2209799"/>
            <a:ext cx="5455444" cy="4605338"/>
            <a:chOff x="4030436" y="2252662"/>
            <a:chExt cx="5455444" cy="4605338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F621F99-903A-8D7D-83D7-E6418444DA44}"/>
                </a:ext>
              </a:extLst>
            </p:cNvPr>
            <p:cNvSpPr/>
            <p:nvPr/>
          </p:nvSpPr>
          <p:spPr>
            <a:xfrm>
              <a:off x="4049486" y="2400300"/>
              <a:ext cx="4418238" cy="504825"/>
            </a:xfrm>
            <a:prstGeom prst="rect">
              <a:avLst/>
            </a:prstGeom>
            <a:solidFill>
              <a:srgbClr val="578F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내용 개체 틀 4">
              <a:extLst>
                <a:ext uri="{FF2B5EF4-FFF2-40B4-BE49-F238E27FC236}">
                  <a16:creationId xmlns:a16="http://schemas.microsoft.com/office/drawing/2014/main" id="{E6510589-12A9-50BC-1E28-16058D439AA9}"/>
                </a:ext>
              </a:extLst>
            </p:cNvPr>
            <p:cNvSpPr txBox="1">
              <a:spLocks/>
            </p:cNvSpPr>
            <p:nvPr/>
          </p:nvSpPr>
          <p:spPr>
            <a:xfrm>
              <a:off x="4030436" y="2252662"/>
              <a:ext cx="5455444" cy="460533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altLang="ko-KR" dirty="0"/>
                <a:t>2. Measure Trace </a:t>
              </a:r>
              <a:r>
                <a:rPr lang="ko-KR" altLang="en-US" dirty="0"/>
                <a:t>구조</a:t>
              </a:r>
              <a:r>
                <a:rPr lang="en-US" altLang="ko-KR" dirty="0"/>
                <a:t> </a:t>
              </a:r>
              <a:r>
                <a:rPr lang="ko-KR" altLang="en-US" dirty="0"/>
                <a:t>설계</a:t>
              </a:r>
              <a:r>
                <a:rPr lang="en-US" altLang="ko-KR" dirty="0"/>
                <a:t> </a:t>
              </a:r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altLang="ko-KR" sz="2000" dirty="0"/>
                <a:t>2.1 [Scenario] </a:t>
              </a:r>
              <a:r>
                <a:rPr lang="ko-KR" altLang="en-US" sz="2000" dirty="0"/>
                <a:t>재계산 기반 구축 단계</a:t>
              </a:r>
              <a:endParaRPr lang="en-US" altLang="ko-KR" sz="2000" dirty="0"/>
            </a:p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2000" dirty="0"/>
                <a:t>　　</a:t>
              </a:r>
              <a:r>
                <a:rPr lang="en-US" altLang="ko-KR" sz="2000" dirty="0"/>
                <a:t>- Ingest ∙ Extract ∙ Confirm</a:t>
              </a:r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altLang="ko-KR" sz="2000" dirty="0"/>
                <a:t>2.2 [Scenario] </a:t>
              </a:r>
              <a:r>
                <a:rPr lang="ko-KR" altLang="en-US" sz="2000" dirty="0"/>
                <a:t>결과 재현 및 검증</a:t>
              </a:r>
              <a:endParaRPr lang="en-US" altLang="ko-KR" sz="2000" dirty="0"/>
            </a:p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2000" dirty="0"/>
                <a:t>　　</a:t>
              </a:r>
              <a:r>
                <a:rPr lang="en-US" altLang="ko-KR" sz="2000" dirty="0"/>
                <a:t>- Recompute ∙ Validate ∙ Audit</a:t>
              </a:r>
              <a:br>
                <a:rPr lang="en-US" altLang="ko-KR" sz="2000" dirty="0"/>
              </a:br>
              <a:endParaRPr lang="en-US" altLang="ko-KR" sz="2000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A8F366AA-8674-EC16-16FB-4260BE7A5D98}"/>
              </a:ext>
            </a:extLst>
          </p:cNvPr>
          <p:cNvGrpSpPr/>
          <p:nvPr/>
        </p:nvGrpSpPr>
        <p:grpSpPr>
          <a:xfrm>
            <a:off x="8939212" y="2209799"/>
            <a:ext cx="2643188" cy="4605338"/>
            <a:chOff x="9082087" y="2209799"/>
            <a:chExt cx="2519363" cy="4605338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CC46025-562E-214D-49BF-BF1F068A1C07}"/>
                </a:ext>
              </a:extLst>
            </p:cNvPr>
            <p:cNvSpPr/>
            <p:nvPr/>
          </p:nvSpPr>
          <p:spPr>
            <a:xfrm>
              <a:off x="9101137" y="2357436"/>
              <a:ext cx="1885951" cy="504825"/>
            </a:xfrm>
            <a:prstGeom prst="rect">
              <a:avLst/>
            </a:prstGeom>
            <a:solidFill>
              <a:srgbClr val="003192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내용 개체 틀 4">
              <a:extLst>
                <a:ext uri="{FF2B5EF4-FFF2-40B4-BE49-F238E27FC236}">
                  <a16:creationId xmlns:a16="http://schemas.microsoft.com/office/drawing/2014/main" id="{A48C78EA-9DAE-A633-A4F3-AE9C476F00DC}"/>
                </a:ext>
              </a:extLst>
            </p:cNvPr>
            <p:cNvSpPr txBox="1">
              <a:spLocks/>
            </p:cNvSpPr>
            <p:nvPr/>
          </p:nvSpPr>
          <p:spPr>
            <a:xfrm>
              <a:off x="9082087" y="2209799"/>
              <a:ext cx="2519363" cy="460533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altLang="ko-KR" b="1" dirty="0"/>
                <a:t>3. </a:t>
              </a:r>
              <a:r>
                <a:rPr lang="ko-KR" altLang="en-US" b="1" dirty="0"/>
                <a:t>구현</a:t>
              </a:r>
              <a:r>
                <a:rPr lang="en-US" altLang="ko-KR" b="1" dirty="0"/>
                <a:t> </a:t>
              </a:r>
              <a:r>
                <a:rPr lang="ko-KR" altLang="en-US" b="1" dirty="0"/>
                <a:t>결과</a:t>
              </a:r>
              <a:endParaRPr lang="en-US" altLang="ko-KR" sz="2000" b="1" dirty="0"/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altLang="ko-KR" sz="2000" dirty="0"/>
                <a:t>3.1 </a:t>
              </a:r>
              <a:r>
                <a:rPr lang="ko-KR" altLang="en-US" sz="2000" dirty="0"/>
                <a:t>구현 </a:t>
              </a:r>
              <a:r>
                <a:rPr lang="en-US" altLang="ko-KR" sz="2000" dirty="0"/>
                <a:t>UI/UX </a:t>
              </a:r>
              <a:r>
                <a:rPr lang="ko-KR" altLang="en-US" sz="2000" dirty="0"/>
                <a:t>및 성과</a:t>
              </a:r>
              <a:endParaRPr lang="en-US" altLang="ko-KR" sz="2000" dirty="0"/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altLang="ko-KR" sz="2000" dirty="0"/>
                <a:t>3.2 Measure Trace</a:t>
              </a:r>
              <a:endParaRPr lang="en-US" altLang="ko-KR" dirty="0"/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C6AB066-986D-861C-02F1-E5BE85C6407B}"/>
              </a:ext>
            </a:extLst>
          </p:cNvPr>
          <p:cNvSpPr/>
          <p:nvPr/>
        </p:nvSpPr>
        <p:spPr>
          <a:xfrm>
            <a:off x="865413" y="2376487"/>
            <a:ext cx="2666377" cy="504825"/>
          </a:xfrm>
          <a:prstGeom prst="rect">
            <a:avLst/>
          </a:prstGeom>
          <a:solidFill>
            <a:srgbClr val="BDD3FF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86BC39C-52A2-794F-88F2-B17DCA13D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888" y="2228849"/>
            <a:ext cx="3467100" cy="4605338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dirty="0"/>
              <a:t>서비스 흐름도</a:t>
            </a:r>
            <a:endParaRPr lang="en-US" altLang="ko-KR" dirty="0"/>
          </a:p>
          <a:p>
            <a:pPr marL="0" indent="0">
              <a:lnSpc>
                <a:spcPct val="175000"/>
              </a:lnSpc>
              <a:buNone/>
            </a:pPr>
            <a:r>
              <a:rPr lang="en-US" altLang="ko-KR" sz="2000" dirty="0"/>
              <a:t>1.1 </a:t>
            </a:r>
            <a:r>
              <a:rPr lang="ko-KR" altLang="en-US" sz="2000" dirty="0"/>
              <a:t>서비스 개요</a:t>
            </a:r>
            <a:r>
              <a:rPr lang="en-US" altLang="ko-KR" sz="2000" dirty="0"/>
              <a:t> ∙ </a:t>
            </a:r>
            <a:r>
              <a:rPr lang="ko-KR" altLang="en-US" sz="2000" dirty="0"/>
              <a:t>필요성</a:t>
            </a:r>
            <a:br>
              <a:rPr lang="en-US" altLang="ko-KR" sz="2000" dirty="0"/>
            </a:br>
            <a:r>
              <a:rPr lang="en-US" altLang="ko-KR" sz="2000" dirty="0"/>
              <a:t>1.2 </a:t>
            </a:r>
            <a:r>
              <a:rPr lang="ko-KR" altLang="en-US" sz="2000" dirty="0"/>
              <a:t>전체 검증 파이프라인</a:t>
            </a:r>
            <a:br>
              <a:rPr lang="en-US" altLang="ko-KR" sz="2000" dirty="0"/>
            </a:br>
            <a:r>
              <a:rPr lang="en-US" altLang="ko-KR" sz="2000" dirty="0"/>
              <a:t>1.3 </a:t>
            </a:r>
            <a:r>
              <a:rPr lang="en-US" altLang="ko-KR" sz="2000" dirty="0" err="1"/>
              <a:t>AI∙Python</a:t>
            </a:r>
            <a:r>
              <a:rPr lang="en-US" altLang="ko-KR" sz="2000" dirty="0"/>
              <a:t>∙</a:t>
            </a:r>
            <a:r>
              <a:rPr lang="ko-KR" altLang="en-US" sz="2000" dirty="0"/>
              <a:t>사용자</a:t>
            </a:r>
            <a:endParaRPr lang="en-US" altLang="ko-KR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7410E5-C0FE-5FB6-A33E-14FE3001744B}"/>
              </a:ext>
            </a:extLst>
          </p:cNvPr>
          <p:cNvSpPr txBox="1"/>
          <p:nvPr/>
        </p:nvSpPr>
        <p:spPr>
          <a:xfrm>
            <a:off x="1274988" y="461093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역할 구분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196AA0-6E77-D785-812B-354CEBCBB692}"/>
              </a:ext>
            </a:extLst>
          </p:cNvPr>
          <p:cNvSpPr txBox="1"/>
          <p:nvPr/>
        </p:nvSpPr>
        <p:spPr>
          <a:xfrm>
            <a:off x="9380763" y="3995740"/>
            <a:ext cx="2077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발전 가능성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590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92022-B325-2842-4BE0-6A814C5AF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B8B68AA4-BB86-0310-0732-DD1F2294475D}"/>
              </a:ext>
            </a:extLst>
          </p:cNvPr>
          <p:cNvGrpSpPr/>
          <p:nvPr/>
        </p:nvGrpSpPr>
        <p:grpSpPr>
          <a:xfrm>
            <a:off x="724189" y="626099"/>
            <a:ext cx="2675613" cy="676532"/>
            <a:chOff x="724189" y="626099"/>
            <a:chExt cx="2675613" cy="676532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156C56C-8AB6-AC0C-7992-E8F2E6A5496E}"/>
                </a:ext>
              </a:extLst>
            </p:cNvPr>
            <p:cNvSpPr/>
            <p:nvPr/>
          </p:nvSpPr>
          <p:spPr>
            <a:xfrm>
              <a:off x="733425" y="784223"/>
              <a:ext cx="2666377" cy="504825"/>
            </a:xfrm>
            <a:prstGeom prst="rect">
              <a:avLst/>
            </a:prstGeom>
            <a:solidFill>
              <a:srgbClr val="BDD3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F94937A-56D1-65A1-17AB-52B6C711E78B}"/>
                </a:ext>
              </a:extLst>
            </p:cNvPr>
            <p:cNvSpPr txBox="1"/>
            <p:nvPr/>
          </p:nvSpPr>
          <p:spPr>
            <a:xfrm>
              <a:off x="724189" y="626099"/>
              <a:ext cx="2675613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14350" indent="-514350">
                <a:lnSpc>
                  <a:spcPct val="150000"/>
                </a:lnSpc>
                <a:buAutoNum type="arabicPeriod"/>
              </a:pP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서비스 흐름도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31" name="제목 3">
            <a:extLst>
              <a:ext uri="{FF2B5EF4-FFF2-40B4-BE49-F238E27FC236}">
                <a16:creationId xmlns:a16="http://schemas.microsoft.com/office/drawing/2014/main" id="{8F4A32C4-14B2-0003-A518-08539450E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038" y="681034"/>
            <a:ext cx="5639666" cy="711201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1.1 </a:t>
            </a:r>
            <a:r>
              <a:rPr lang="ko-KR" altLang="en-US" sz="3200" dirty="0"/>
              <a:t>서비스 개요</a:t>
            </a:r>
            <a:r>
              <a:rPr lang="en-US" altLang="ko-KR" sz="3200" dirty="0"/>
              <a:t> ∙ </a:t>
            </a:r>
            <a:r>
              <a:rPr lang="ko-KR" altLang="en-US" sz="3200" dirty="0"/>
              <a:t>필요성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622C51-BDB1-DD94-281D-04CEE4968D2F}"/>
              </a:ext>
            </a:extLst>
          </p:cNvPr>
          <p:cNvSpPr txBox="1"/>
          <p:nvPr/>
        </p:nvSpPr>
        <p:spPr>
          <a:xfrm>
            <a:off x="1228725" y="2868613"/>
            <a:ext cx="9734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Measure Trace</a:t>
            </a:r>
            <a:endParaRPr lang="ko-KR" altLang="en-US" sz="8000" dirty="0">
              <a:effectLst/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BD69C-557C-3CA1-82FE-26D44E8B2309}"/>
              </a:ext>
            </a:extLst>
          </p:cNvPr>
          <p:cNvSpPr txBox="1"/>
          <p:nvPr/>
        </p:nvSpPr>
        <p:spPr>
          <a:xfrm>
            <a:off x="1830551" y="4192052"/>
            <a:ext cx="8796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2000" dirty="0">
                <a:solidFill>
                  <a:srgbClr val="FF0000"/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원시 측정값</a:t>
            </a:r>
            <a:r>
              <a:rPr lang="ko-KR" altLang="ko-KR" sz="2000" dirty="0"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부터 </a:t>
            </a:r>
            <a:r>
              <a:rPr lang="ko-KR" altLang="ko-KR" sz="2000" dirty="0">
                <a:solidFill>
                  <a:srgbClr val="FF0000"/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보고 문장</a:t>
            </a:r>
            <a:r>
              <a:rPr lang="ko-KR" altLang="ko-KR" sz="2000" dirty="0"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까지 증거 사슬을 </a:t>
            </a:r>
            <a:r>
              <a:rPr lang="ko-KR" altLang="ko-KR" sz="2000" dirty="0" err="1">
                <a:effectLst/>
                <a:highlight>
                  <a:srgbClr val="FFFF00"/>
                </a:highligh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재계산·검증</a:t>
            </a:r>
            <a:r>
              <a:rPr lang="ko-KR" altLang="ko-KR" sz="2000" dirty="0" err="1"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하는</a:t>
            </a:r>
            <a:r>
              <a:rPr lang="ko-KR" altLang="ko-KR" sz="2000" dirty="0"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연구 데이터 감사 </a:t>
            </a:r>
            <a:r>
              <a:rPr lang="ko-KR" altLang="ko-KR" sz="2000" dirty="0" err="1"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Agent</a:t>
            </a:r>
            <a:endParaRPr lang="ko-KR" altLang="en-US" sz="2000" dirty="0">
              <a:effectLst/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9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D26F9-6631-A899-95E5-42C9A56A2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83093D4F-9E09-7480-8ED6-F13B52082165}"/>
              </a:ext>
            </a:extLst>
          </p:cNvPr>
          <p:cNvGrpSpPr/>
          <p:nvPr/>
        </p:nvGrpSpPr>
        <p:grpSpPr>
          <a:xfrm>
            <a:off x="724189" y="626099"/>
            <a:ext cx="2675613" cy="676532"/>
            <a:chOff x="724189" y="626099"/>
            <a:chExt cx="2675613" cy="676532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1D6BB5FB-B7FD-F885-58F1-32DD3BF022F2}"/>
                </a:ext>
              </a:extLst>
            </p:cNvPr>
            <p:cNvSpPr/>
            <p:nvPr/>
          </p:nvSpPr>
          <p:spPr>
            <a:xfrm>
              <a:off x="733425" y="784223"/>
              <a:ext cx="2666377" cy="504825"/>
            </a:xfrm>
            <a:prstGeom prst="rect">
              <a:avLst/>
            </a:prstGeom>
            <a:solidFill>
              <a:srgbClr val="BDD3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920A399-0AC6-EF9D-5FEC-0E8E1941E4A1}"/>
                </a:ext>
              </a:extLst>
            </p:cNvPr>
            <p:cNvSpPr txBox="1"/>
            <p:nvPr/>
          </p:nvSpPr>
          <p:spPr>
            <a:xfrm>
              <a:off x="724189" y="626099"/>
              <a:ext cx="2675613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14350" indent="-514350">
                <a:lnSpc>
                  <a:spcPct val="150000"/>
                </a:lnSpc>
                <a:buAutoNum type="arabicPeriod"/>
              </a:pP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서비스 흐름도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31" name="제목 3">
            <a:extLst>
              <a:ext uri="{FF2B5EF4-FFF2-40B4-BE49-F238E27FC236}">
                <a16:creationId xmlns:a16="http://schemas.microsoft.com/office/drawing/2014/main" id="{E6686A6D-582E-5357-813E-0AFFA5A91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038" y="681034"/>
            <a:ext cx="5639666" cy="711201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1.1 </a:t>
            </a:r>
            <a:r>
              <a:rPr lang="ko-KR" altLang="en-US" sz="3200" dirty="0"/>
              <a:t>서비스 개요</a:t>
            </a:r>
            <a:r>
              <a:rPr lang="en-US" altLang="ko-KR" sz="3200" dirty="0"/>
              <a:t> ∙ </a:t>
            </a:r>
            <a:r>
              <a:rPr lang="ko-KR" altLang="en-US" sz="3200" dirty="0"/>
              <a:t>필요성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C4CD5A-41F5-AED7-2DCB-034AADE8B131}"/>
              </a:ext>
            </a:extLst>
          </p:cNvPr>
          <p:cNvSpPr txBox="1"/>
          <p:nvPr/>
        </p:nvSpPr>
        <p:spPr>
          <a:xfrm>
            <a:off x="2263704" y="3201908"/>
            <a:ext cx="236795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600" dirty="0">
                <a:effectLst>
                  <a:glow rad="101600">
                    <a:schemeClr val="tx2">
                      <a:lumMod val="50000"/>
                      <a:lumOff val="50000"/>
                      <a:alpha val="60000"/>
                    </a:scheme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정확성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127B29-1D43-340A-BDC9-83A26841A57E}"/>
              </a:ext>
            </a:extLst>
          </p:cNvPr>
          <p:cNvSpPr txBox="1"/>
          <p:nvPr/>
        </p:nvSpPr>
        <p:spPr>
          <a:xfrm>
            <a:off x="7436517" y="3201908"/>
            <a:ext cx="240963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600" dirty="0">
                <a:effectLst>
                  <a:glow rad="101600">
                    <a:srgbClr val="92D050">
                      <a:alpha val="60000"/>
                    </a:srgb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재현성</a:t>
            </a:r>
          </a:p>
        </p:txBody>
      </p:sp>
    </p:spTree>
    <p:extLst>
      <p:ext uri="{BB962C8B-B14F-4D97-AF65-F5344CB8AC3E}">
        <p14:creationId xmlns:p14="http://schemas.microsoft.com/office/powerpoint/2010/main" val="4251059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DD751-AA8E-9CD5-6059-541BBA4AF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808F742A-D707-BDAB-12B6-395994873C03}"/>
              </a:ext>
            </a:extLst>
          </p:cNvPr>
          <p:cNvGrpSpPr/>
          <p:nvPr/>
        </p:nvGrpSpPr>
        <p:grpSpPr>
          <a:xfrm>
            <a:off x="724189" y="626099"/>
            <a:ext cx="2675613" cy="676532"/>
            <a:chOff x="724189" y="626099"/>
            <a:chExt cx="2675613" cy="676532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2C0CC32-4F17-13E6-DE5E-73F6DC92257E}"/>
                </a:ext>
              </a:extLst>
            </p:cNvPr>
            <p:cNvSpPr/>
            <p:nvPr/>
          </p:nvSpPr>
          <p:spPr>
            <a:xfrm>
              <a:off x="733425" y="784223"/>
              <a:ext cx="2666377" cy="504825"/>
            </a:xfrm>
            <a:prstGeom prst="rect">
              <a:avLst/>
            </a:prstGeom>
            <a:solidFill>
              <a:srgbClr val="BDD3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5811456-191F-4A57-7203-1C051F74E8F6}"/>
                </a:ext>
              </a:extLst>
            </p:cNvPr>
            <p:cNvSpPr txBox="1"/>
            <p:nvPr/>
          </p:nvSpPr>
          <p:spPr>
            <a:xfrm>
              <a:off x="724189" y="626099"/>
              <a:ext cx="2675613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14350" indent="-514350">
                <a:lnSpc>
                  <a:spcPct val="150000"/>
                </a:lnSpc>
                <a:buAutoNum type="arabicPeriod"/>
              </a:pP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서비스 흐름도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31" name="제목 3">
            <a:extLst>
              <a:ext uri="{FF2B5EF4-FFF2-40B4-BE49-F238E27FC236}">
                <a16:creationId xmlns:a16="http://schemas.microsoft.com/office/drawing/2014/main" id="{DC564566-1B99-D73C-E81E-6DBAF8274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038" y="681034"/>
            <a:ext cx="5639666" cy="711201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1.1 </a:t>
            </a:r>
            <a:r>
              <a:rPr lang="ko-KR" altLang="en-US" sz="3200" dirty="0"/>
              <a:t>서비스 개요</a:t>
            </a:r>
            <a:r>
              <a:rPr lang="en-US" altLang="ko-KR" sz="3200" dirty="0"/>
              <a:t> ∙ </a:t>
            </a:r>
            <a:r>
              <a:rPr lang="ko-KR" altLang="en-US" sz="3200" dirty="0"/>
              <a:t>필요성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BB5A28-05B3-FDDF-7F59-C591366FD744}"/>
              </a:ext>
            </a:extLst>
          </p:cNvPr>
          <p:cNvSpPr txBox="1"/>
          <p:nvPr/>
        </p:nvSpPr>
        <p:spPr>
          <a:xfrm>
            <a:off x="2263704" y="3201908"/>
            <a:ext cx="236795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600" dirty="0">
                <a:effectLst>
                  <a:glow rad="101600">
                    <a:schemeClr val="tx2">
                      <a:lumMod val="50000"/>
                      <a:lumOff val="50000"/>
                      <a:alpha val="60000"/>
                    </a:scheme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정확성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0148C-12DD-C72D-F104-63C788D5F042}"/>
              </a:ext>
            </a:extLst>
          </p:cNvPr>
          <p:cNvSpPr txBox="1"/>
          <p:nvPr/>
        </p:nvSpPr>
        <p:spPr>
          <a:xfrm>
            <a:off x="7436517" y="3201908"/>
            <a:ext cx="240963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600" dirty="0">
                <a:effectLst>
                  <a:glow rad="101600">
                    <a:srgbClr val="92D050">
                      <a:alpha val="60000"/>
                    </a:srgb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재현성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2387E5-E958-3B81-ACDA-6E7EC282B5B3}"/>
              </a:ext>
            </a:extLst>
          </p:cNvPr>
          <p:cNvSpPr txBox="1"/>
          <p:nvPr/>
        </p:nvSpPr>
        <p:spPr>
          <a:xfrm>
            <a:off x="3683320" y="2022476"/>
            <a:ext cx="48253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하지만 </a:t>
            </a:r>
            <a:r>
              <a:rPr lang="ko-KR" altLang="en-US" sz="3200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기존 </a:t>
            </a:r>
            <a:r>
              <a:rPr lang="en-US" altLang="ko-KR" sz="3200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LLM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방식은</a:t>
            </a:r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…</a:t>
            </a:r>
            <a:endParaRPr lang="ko-KR" altLang="en-US" sz="3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971A85-AFAF-4269-FFEF-EF85392B24AD}"/>
              </a:ext>
            </a:extLst>
          </p:cNvPr>
          <p:cNvSpPr txBox="1"/>
          <p:nvPr/>
        </p:nvSpPr>
        <p:spPr>
          <a:xfrm>
            <a:off x="1063856" y="4465203"/>
            <a:ext cx="4767652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① LLM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스스로 짠 계산 코드는 정확도가 낮다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② LLM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보고서를 읽는 과정에서 오류가 발생한다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752FAA-7302-AE32-E8D5-EA25C756D30E}"/>
              </a:ext>
            </a:extLst>
          </p:cNvPr>
          <p:cNvSpPr txBox="1"/>
          <p:nvPr/>
        </p:nvSpPr>
        <p:spPr>
          <a:xfrm>
            <a:off x="6186674" y="4465203"/>
            <a:ext cx="5171609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①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같은 데이터여도 여러 번 검증하면 </a:t>
            </a:r>
            <a:r>
              <a:rPr lang="ko-KR" altLang="en-US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출력값이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달라진다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② LLM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짜는 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python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코드는 매번 바뀐다</a:t>
            </a:r>
          </a:p>
        </p:txBody>
      </p:sp>
    </p:spTree>
    <p:extLst>
      <p:ext uri="{BB962C8B-B14F-4D97-AF65-F5344CB8AC3E}">
        <p14:creationId xmlns:p14="http://schemas.microsoft.com/office/powerpoint/2010/main" val="3464089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D4675-CAC5-F344-B097-879049783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60EB3134-5616-00C5-B3C1-B95F6905C94B}"/>
              </a:ext>
            </a:extLst>
          </p:cNvPr>
          <p:cNvGrpSpPr/>
          <p:nvPr/>
        </p:nvGrpSpPr>
        <p:grpSpPr>
          <a:xfrm>
            <a:off x="724189" y="626099"/>
            <a:ext cx="2675613" cy="676532"/>
            <a:chOff x="724189" y="626099"/>
            <a:chExt cx="2675613" cy="676532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8A65294-589D-1A97-5EC1-5ECA0B072BEE}"/>
                </a:ext>
              </a:extLst>
            </p:cNvPr>
            <p:cNvSpPr/>
            <p:nvPr/>
          </p:nvSpPr>
          <p:spPr>
            <a:xfrm>
              <a:off x="733425" y="784223"/>
              <a:ext cx="2666377" cy="504825"/>
            </a:xfrm>
            <a:prstGeom prst="rect">
              <a:avLst/>
            </a:prstGeom>
            <a:solidFill>
              <a:srgbClr val="BDD3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CE5B9-B616-E79F-0B0C-0C1FD45971B4}"/>
                </a:ext>
              </a:extLst>
            </p:cNvPr>
            <p:cNvSpPr txBox="1"/>
            <p:nvPr/>
          </p:nvSpPr>
          <p:spPr>
            <a:xfrm>
              <a:off x="724189" y="626099"/>
              <a:ext cx="2675613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14350" indent="-514350">
                <a:lnSpc>
                  <a:spcPct val="150000"/>
                </a:lnSpc>
                <a:buAutoNum type="arabicPeriod"/>
              </a:pP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서비스 흐름도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31" name="제목 3">
            <a:extLst>
              <a:ext uri="{FF2B5EF4-FFF2-40B4-BE49-F238E27FC236}">
                <a16:creationId xmlns:a16="http://schemas.microsoft.com/office/drawing/2014/main" id="{3B094C44-63CD-9404-359C-AF510895D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038" y="681034"/>
            <a:ext cx="5639666" cy="711201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1.1 </a:t>
            </a:r>
            <a:r>
              <a:rPr lang="ko-KR" altLang="en-US" sz="3200" dirty="0"/>
              <a:t>서비스 개요</a:t>
            </a:r>
            <a:r>
              <a:rPr lang="en-US" altLang="ko-KR" sz="3200" dirty="0"/>
              <a:t> ∙ </a:t>
            </a:r>
            <a:r>
              <a:rPr lang="ko-KR" altLang="en-US" sz="3200" dirty="0"/>
              <a:t>필요성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82D6963-04C2-A88B-E398-418AC9F39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137" y="1753803"/>
            <a:ext cx="7875726" cy="4319974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73EA8E2-6105-3ADE-B8CD-6A815B6FE47C}"/>
              </a:ext>
            </a:extLst>
          </p:cNvPr>
          <p:cNvSpPr/>
          <p:nvPr/>
        </p:nvSpPr>
        <p:spPr>
          <a:xfrm>
            <a:off x="5467927" y="1843407"/>
            <a:ext cx="1542473" cy="4141757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C4A832A-8A3C-2B3B-1CBA-FC91978C7B14}"/>
              </a:ext>
            </a:extLst>
          </p:cNvPr>
          <p:cNvSpPr/>
          <p:nvPr/>
        </p:nvSpPr>
        <p:spPr>
          <a:xfrm>
            <a:off x="7319818" y="1843406"/>
            <a:ext cx="1542473" cy="414175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61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98976-DC64-73CD-ED3F-92AB853C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5C51F172-B6B5-7A91-A65F-DF84216EBAF7}"/>
              </a:ext>
            </a:extLst>
          </p:cNvPr>
          <p:cNvGrpSpPr/>
          <p:nvPr/>
        </p:nvGrpSpPr>
        <p:grpSpPr>
          <a:xfrm>
            <a:off x="724189" y="626099"/>
            <a:ext cx="2675613" cy="676532"/>
            <a:chOff x="724189" y="626099"/>
            <a:chExt cx="2675613" cy="676532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134A633F-C3B1-9FCF-CB01-15579EF718CE}"/>
                </a:ext>
              </a:extLst>
            </p:cNvPr>
            <p:cNvSpPr/>
            <p:nvPr/>
          </p:nvSpPr>
          <p:spPr>
            <a:xfrm>
              <a:off x="733425" y="784223"/>
              <a:ext cx="2666377" cy="504825"/>
            </a:xfrm>
            <a:prstGeom prst="rect">
              <a:avLst/>
            </a:prstGeom>
            <a:solidFill>
              <a:srgbClr val="BDD3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58B66E0-DE1F-54DE-FFCC-1513A88D03A6}"/>
                </a:ext>
              </a:extLst>
            </p:cNvPr>
            <p:cNvSpPr txBox="1"/>
            <p:nvPr/>
          </p:nvSpPr>
          <p:spPr>
            <a:xfrm>
              <a:off x="724189" y="626099"/>
              <a:ext cx="2675613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14350" indent="-514350">
                <a:lnSpc>
                  <a:spcPct val="150000"/>
                </a:lnSpc>
                <a:buAutoNum type="arabicPeriod"/>
              </a:pP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서비스 흐름도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31" name="제목 3">
            <a:extLst>
              <a:ext uri="{FF2B5EF4-FFF2-40B4-BE49-F238E27FC236}">
                <a16:creationId xmlns:a16="http://schemas.microsoft.com/office/drawing/2014/main" id="{34322C47-60AB-2995-B8D7-C28DA0916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038" y="681034"/>
            <a:ext cx="5639666" cy="711201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1.</a:t>
            </a:r>
            <a:r>
              <a:rPr lang="ko-KR" altLang="en-US" sz="3200" dirty="0"/>
              <a:t>２</a:t>
            </a:r>
            <a:r>
              <a:rPr lang="en-US" altLang="ko-KR" sz="3200" dirty="0"/>
              <a:t> </a:t>
            </a:r>
            <a:r>
              <a:rPr lang="ko-KR" altLang="en-US" sz="3200" dirty="0"/>
              <a:t>전체 검증 파이프라인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7F37EAA-5B53-84D9-7BBB-E4178C84F0D9}"/>
              </a:ext>
            </a:extLst>
          </p:cNvPr>
          <p:cNvSpPr/>
          <p:nvPr/>
        </p:nvSpPr>
        <p:spPr>
          <a:xfrm>
            <a:off x="724189" y="3429000"/>
            <a:ext cx="1621848" cy="563418"/>
          </a:xfrm>
          <a:prstGeom prst="roundRect">
            <a:avLst/>
          </a:prstGeom>
          <a:solidFill>
            <a:srgbClr val="E7F1FB"/>
          </a:solidFill>
          <a:ln w="19050">
            <a:solidFill>
              <a:srgbClr val="3F8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dirty="0">
              <a:solidFill>
                <a:srgbClr val="0D3F7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F0E02E3-570B-E4E1-CEA2-43418198D76B}"/>
              </a:ext>
            </a:extLst>
          </p:cNvPr>
          <p:cNvSpPr/>
          <p:nvPr/>
        </p:nvSpPr>
        <p:spPr>
          <a:xfrm>
            <a:off x="2558041" y="3429000"/>
            <a:ext cx="1621848" cy="563418"/>
          </a:xfrm>
          <a:prstGeom prst="roundRect">
            <a:avLst/>
          </a:prstGeom>
          <a:solidFill>
            <a:srgbClr val="EEEDFD"/>
          </a:solidFill>
          <a:ln w="19050">
            <a:solidFill>
              <a:srgbClr val="8D84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2D247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</a:t>
            </a:r>
            <a:endParaRPr lang="ko-KR" altLang="en-US" dirty="0">
              <a:solidFill>
                <a:srgbClr val="2D247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AABC839-8389-B694-272D-D729184671CD}"/>
              </a:ext>
            </a:extLst>
          </p:cNvPr>
          <p:cNvSpPr/>
          <p:nvPr/>
        </p:nvSpPr>
        <p:spPr>
          <a:xfrm>
            <a:off x="4391892" y="3429000"/>
            <a:ext cx="1621848" cy="563418"/>
          </a:xfrm>
          <a:prstGeom prst="roundRect">
            <a:avLst/>
          </a:prstGeom>
          <a:solidFill>
            <a:srgbClr val="E1F4EE"/>
          </a:solidFill>
          <a:ln w="19050">
            <a:solidFill>
              <a:srgbClr val="4BB1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20665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Confirm</a:t>
            </a:r>
            <a:endParaRPr lang="ko-KR" altLang="en-US" dirty="0">
              <a:solidFill>
                <a:srgbClr val="20665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E9945D8-D160-1EA8-975B-B2D40BFCD8C9}"/>
              </a:ext>
            </a:extLst>
          </p:cNvPr>
          <p:cNvSpPr/>
          <p:nvPr/>
        </p:nvSpPr>
        <p:spPr>
          <a:xfrm>
            <a:off x="6225744" y="3429000"/>
            <a:ext cx="1621848" cy="563418"/>
          </a:xfrm>
          <a:prstGeom prst="roundRect">
            <a:avLst/>
          </a:prstGeom>
          <a:solidFill>
            <a:srgbClr val="FDF3F1"/>
          </a:solidFill>
          <a:ln w="19050">
            <a:solidFill>
              <a:srgbClr val="E39F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endParaRPr lang="ko-KR" altLang="en-US" dirty="0">
              <a:solidFill>
                <a:schemeClr val="accent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0291DFC-BDAE-48DA-230E-5FC729B5133E}"/>
              </a:ext>
            </a:extLst>
          </p:cNvPr>
          <p:cNvSpPr/>
          <p:nvPr/>
        </p:nvSpPr>
        <p:spPr>
          <a:xfrm>
            <a:off x="8059596" y="3429000"/>
            <a:ext cx="1621848" cy="563418"/>
          </a:xfrm>
          <a:prstGeom prst="roundRect">
            <a:avLst/>
          </a:prstGeom>
          <a:solidFill>
            <a:srgbClr val="FCFACC"/>
          </a:solidFill>
          <a:ln w="19050">
            <a:solidFill>
              <a:srgbClr val="EDF1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Validate</a:t>
            </a:r>
            <a:endParaRPr lang="ko-KR" altLang="en-US" dirty="0">
              <a:solidFill>
                <a:srgbClr val="FFC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87BEE09-6052-9801-C9D8-6EC2272EFB86}"/>
              </a:ext>
            </a:extLst>
          </p:cNvPr>
          <p:cNvSpPr/>
          <p:nvPr/>
        </p:nvSpPr>
        <p:spPr>
          <a:xfrm>
            <a:off x="9893448" y="3438236"/>
            <a:ext cx="1621848" cy="56341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Audit</a:t>
            </a:r>
            <a:endParaRPr lang="ko-KR" altLang="en-US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113070-FD99-1F69-35E7-EFF0B336C871}"/>
              </a:ext>
            </a:extLst>
          </p:cNvPr>
          <p:cNvSpPr txBox="1"/>
          <p:nvPr/>
        </p:nvSpPr>
        <p:spPr>
          <a:xfrm>
            <a:off x="3633627" y="2243860"/>
            <a:ext cx="49247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“6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단계에 걸친 검증 프로세스</a:t>
            </a:r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endParaRPr lang="ko-KR" altLang="en-US" sz="3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1876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CBAF8-C97F-3A79-465B-CBC0D10DB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ED93ADF7-F9BE-4BEF-F204-B5EDD2B45184}"/>
              </a:ext>
            </a:extLst>
          </p:cNvPr>
          <p:cNvGrpSpPr/>
          <p:nvPr/>
        </p:nvGrpSpPr>
        <p:grpSpPr>
          <a:xfrm>
            <a:off x="724189" y="626099"/>
            <a:ext cx="2675613" cy="676532"/>
            <a:chOff x="724189" y="626099"/>
            <a:chExt cx="2675613" cy="676532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5A34597-B659-28E8-EBF8-19FD3A2A14BF}"/>
                </a:ext>
              </a:extLst>
            </p:cNvPr>
            <p:cNvSpPr/>
            <p:nvPr/>
          </p:nvSpPr>
          <p:spPr>
            <a:xfrm>
              <a:off x="733425" y="784223"/>
              <a:ext cx="2666377" cy="504825"/>
            </a:xfrm>
            <a:prstGeom prst="rect">
              <a:avLst/>
            </a:prstGeom>
            <a:solidFill>
              <a:srgbClr val="BDD3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3ACE1EB-19AF-86AE-91DE-B88E2B026463}"/>
                </a:ext>
              </a:extLst>
            </p:cNvPr>
            <p:cNvSpPr txBox="1"/>
            <p:nvPr/>
          </p:nvSpPr>
          <p:spPr>
            <a:xfrm>
              <a:off x="724189" y="626099"/>
              <a:ext cx="2675613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14350" indent="-514350">
                <a:lnSpc>
                  <a:spcPct val="150000"/>
                </a:lnSpc>
                <a:buAutoNum type="arabicPeriod"/>
              </a:pP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서비스 흐름도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31" name="제목 3">
            <a:extLst>
              <a:ext uri="{FF2B5EF4-FFF2-40B4-BE49-F238E27FC236}">
                <a16:creationId xmlns:a16="http://schemas.microsoft.com/office/drawing/2014/main" id="{B4EEC471-B8F5-300B-1F99-B83A0A2DC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038" y="681034"/>
            <a:ext cx="5639666" cy="711201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1.</a:t>
            </a:r>
            <a:r>
              <a:rPr lang="ko-KR" altLang="en-US" sz="3200" dirty="0"/>
              <a:t>２</a:t>
            </a:r>
            <a:r>
              <a:rPr lang="en-US" altLang="ko-KR" sz="3200" dirty="0"/>
              <a:t> </a:t>
            </a:r>
            <a:r>
              <a:rPr lang="ko-KR" altLang="en-US" sz="3200" dirty="0"/>
              <a:t>전체 검증 파이프라인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AA770EE-99CE-876C-6575-4F9E34ADC573}"/>
              </a:ext>
            </a:extLst>
          </p:cNvPr>
          <p:cNvSpPr/>
          <p:nvPr/>
        </p:nvSpPr>
        <p:spPr>
          <a:xfrm>
            <a:off x="724189" y="3429000"/>
            <a:ext cx="1621848" cy="563418"/>
          </a:xfrm>
          <a:prstGeom prst="roundRect">
            <a:avLst/>
          </a:prstGeom>
          <a:solidFill>
            <a:srgbClr val="E7F1FB"/>
          </a:solidFill>
          <a:ln w="19050">
            <a:solidFill>
              <a:srgbClr val="3F8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dirty="0">
              <a:solidFill>
                <a:srgbClr val="0D3F7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69826C7-8312-126C-C36B-8B353477BA84}"/>
              </a:ext>
            </a:extLst>
          </p:cNvPr>
          <p:cNvSpPr/>
          <p:nvPr/>
        </p:nvSpPr>
        <p:spPr>
          <a:xfrm>
            <a:off x="2558041" y="3429000"/>
            <a:ext cx="1621848" cy="563418"/>
          </a:xfrm>
          <a:prstGeom prst="roundRect">
            <a:avLst/>
          </a:prstGeom>
          <a:solidFill>
            <a:srgbClr val="EEEDFD"/>
          </a:solidFill>
          <a:ln w="19050">
            <a:solidFill>
              <a:srgbClr val="8D84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2D247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</a:t>
            </a:r>
            <a:endParaRPr lang="ko-KR" altLang="en-US" dirty="0">
              <a:solidFill>
                <a:srgbClr val="2D247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FCA411E-FE97-4DB5-FE75-4B8371E8BD37}"/>
              </a:ext>
            </a:extLst>
          </p:cNvPr>
          <p:cNvSpPr/>
          <p:nvPr/>
        </p:nvSpPr>
        <p:spPr>
          <a:xfrm>
            <a:off x="4391892" y="3429000"/>
            <a:ext cx="1621848" cy="563418"/>
          </a:xfrm>
          <a:prstGeom prst="roundRect">
            <a:avLst/>
          </a:prstGeom>
          <a:solidFill>
            <a:srgbClr val="E1F4EE"/>
          </a:solidFill>
          <a:ln w="19050">
            <a:solidFill>
              <a:srgbClr val="4BB1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20665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Confirm</a:t>
            </a:r>
            <a:endParaRPr lang="ko-KR" altLang="en-US" dirty="0">
              <a:solidFill>
                <a:srgbClr val="20665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EDD0D7B-EDC2-6031-AA38-929DEDC8C1BE}"/>
              </a:ext>
            </a:extLst>
          </p:cNvPr>
          <p:cNvSpPr/>
          <p:nvPr/>
        </p:nvSpPr>
        <p:spPr>
          <a:xfrm>
            <a:off x="6225744" y="3429000"/>
            <a:ext cx="1621848" cy="56341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endParaRPr lang="ko-KR" altLang="en-US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D49CD31-38C6-C62C-BE31-0D5C5411F2BE}"/>
              </a:ext>
            </a:extLst>
          </p:cNvPr>
          <p:cNvSpPr/>
          <p:nvPr/>
        </p:nvSpPr>
        <p:spPr>
          <a:xfrm>
            <a:off x="8059596" y="3429000"/>
            <a:ext cx="1621848" cy="56341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Validate</a:t>
            </a:r>
            <a:endParaRPr lang="ko-KR" altLang="en-US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E6DA099-1A8C-4540-3DA5-9B554641C36F}"/>
              </a:ext>
            </a:extLst>
          </p:cNvPr>
          <p:cNvSpPr/>
          <p:nvPr/>
        </p:nvSpPr>
        <p:spPr>
          <a:xfrm>
            <a:off x="9893448" y="3438236"/>
            <a:ext cx="1621848" cy="56341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Audit</a:t>
            </a:r>
            <a:endParaRPr lang="ko-KR" altLang="en-US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4F57BC-6593-1044-EA23-079AA255D4DD}"/>
              </a:ext>
            </a:extLst>
          </p:cNvPr>
          <p:cNvSpPr txBox="1"/>
          <p:nvPr/>
        </p:nvSpPr>
        <p:spPr>
          <a:xfrm>
            <a:off x="1565424" y="2622551"/>
            <a:ext cx="36872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재계산 기반 구축 단계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447A28-A4CC-1A92-D50F-2C07032ABFEA}"/>
              </a:ext>
            </a:extLst>
          </p:cNvPr>
          <p:cNvSpPr txBox="1"/>
          <p:nvPr/>
        </p:nvSpPr>
        <p:spPr>
          <a:xfrm>
            <a:off x="1055256" y="4214092"/>
            <a:ext cx="4689104" cy="1714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에서 최종적으로 계산을 해내기 위해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필요한 기반을 구축하는 단계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 입력 → 정보 추출 →사용자 확인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단계를 거쳐 정확한 정보를 얻어냄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85552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D0B94-6065-C46E-4049-AD22F4F6B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387E318D-0A52-A178-CC02-7BA2807B0FE0}"/>
              </a:ext>
            </a:extLst>
          </p:cNvPr>
          <p:cNvGrpSpPr/>
          <p:nvPr/>
        </p:nvGrpSpPr>
        <p:grpSpPr>
          <a:xfrm>
            <a:off x="724189" y="626099"/>
            <a:ext cx="2675613" cy="676532"/>
            <a:chOff x="724189" y="626099"/>
            <a:chExt cx="2675613" cy="676532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CC4230D-8561-8835-2FFE-F134323C780C}"/>
                </a:ext>
              </a:extLst>
            </p:cNvPr>
            <p:cNvSpPr/>
            <p:nvPr/>
          </p:nvSpPr>
          <p:spPr>
            <a:xfrm>
              <a:off x="733425" y="784223"/>
              <a:ext cx="2666377" cy="504825"/>
            </a:xfrm>
            <a:prstGeom prst="rect">
              <a:avLst/>
            </a:prstGeom>
            <a:solidFill>
              <a:srgbClr val="BDD3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C8CD1FC-906B-6B21-D2A0-34172F1B1D16}"/>
                </a:ext>
              </a:extLst>
            </p:cNvPr>
            <p:cNvSpPr txBox="1"/>
            <p:nvPr/>
          </p:nvSpPr>
          <p:spPr>
            <a:xfrm>
              <a:off x="724189" y="626099"/>
              <a:ext cx="2675613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14350" indent="-514350">
                <a:lnSpc>
                  <a:spcPct val="150000"/>
                </a:lnSpc>
                <a:buAutoNum type="arabicPeriod"/>
              </a:pP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서비스 흐름도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31" name="제목 3">
            <a:extLst>
              <a:ext uri="{FF2B5EF4-FFF2-40B4-BE49-F238E27FC236}">
                <a16:creationId xmlns:a16="http://schemas.microsoft.com/office/drawing/2014/main" id="{F6F96B62-B84F-856D-5B91-DE16BB723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038" y="681034"/>
            <a:ext cx="5639666" cy="711201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1.</a:t>
            </a:r>
            <a:r>
              <a:rPr lang="ko-KR" altLang="en-US" sz="3200" dirty="0"/>
              <a:t>２</a:t>
            </a:r>
            <a:r>
              <a:rPr lang="en-US" altLang="ko-KR" sz="3200" dirty="0"/>
              <a:t> </a:t>
            </a:r>
            <a:r>
              <a:rPr lang="ko-KR" altLang="en-US" sz="3200" dirty="0"/>
              <a:t>전체 검증 파이프라인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E546478-9748-E044-FF49-D853FA0F3387}"/>
              </a:ext>
            </a:extLst>
          </p:cNvPr>
          <p:cNvSpPr/>
          <p:nvPr/>
        </p:nvSpPr>
        <p:spPr>
          <a:xfrm>
            <a:off x="724189" y="3429000"/>
            <a:ext cx="1621848" cy="56341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E6D9354-EF40-849C-0DB8-DF6FFB4F61CE}"/>
              </a:ext>
            </a:extLst>
          </p:cNvPr>
          <p:cNvSpPr/>
          <p:nvPr/>
        </p:nvSpPr>
        <p:spPr>
          <a:xfrm>
            <a:off x="2558041" y="3429000"/>
            <a:ext cx="1621848" cy="56341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</a:t>
            </a:r>
            <a:endParaRPr lang="ko-KR" altLang="en-US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7DD51DB-C5E2-429F-3B16-DCCFEF9660A1}"/>
              </a:ext>
            </a:extLst>
          </p:cNvPr>
          <p:cNvSpPr/>
          <p:nvPr/>
        </p:nvSpPr>
        <p:spPr>
          <a:xfrm>
            <a:off x="4391892" y="3429000"/>
            <a:ext cx="1621848" cy="56341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Confirm</a:t>
            </a:r>
            <a:endParaRPr lang="ko-KR" altLang="en-US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B4E3B95-8D70-DA8F-40F3-6A5E33E6DBE0}"/>
              </a:ext>
            </a:extLst>
          </p:cNvPr>
          <p:cNvSpPr/>
          <p:nvPr/>
        </p:nvSpPr>
        <p:spPr>
          <a:xfrm>
            <a:off x="6225744" y="3429000"/>
            <a:ext cx="1621848" cy="563418"/>
          </a:xfrm>
          <a:prstGeom prst="roundRect">
            <a:avLst/>
          </a:prstGeom>
          <a:solidFill>
            <a:srgbClr val="FDF3F1"/>
          </a:solidFill>
          <a:ln w="19050">
            <a:solidFill>
              <a:srgbClr val="E39F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endParaRPr lang="ko-KR" altLang="en-US" dirty="0">
              <a:solidFill>
                <a:schemeClr val="accent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D45D3BC-9DF9-7CC8-E752-033E12C198B4}"/>
              </a:ext>
            </a:extLst>
          </p:cNvPr>
          <p:cNvSpPr/>
          <p:nvPr/>
        </p:nvSpPr>
        <p:spPr>
          <a:xfrm>
            <a:off x="8059596" y="3429000"/>
            <a:ext cx="1621848" cy="563418"/>
          </a:xfrm>
          <a:prstGeom prst="roundRect">
            <a:avLst/>
          </a:prstGeom>
          <a:solidFill>
            <a:srgbClr val="FCFACC"/>
          </a:solidFill>
          <a:ln w="19050">
            <a:solidFill>
              <a:srgbClr val="EDF1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Validate</a:t>
            </a:r>
            <a:endParaRPr lang="ko-KR" altLang="en-US" dirty="0">
              <a:solidFill>
                <a:srgbClr val="FFC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733BA46-4F2E-906E-2321-2A0D65A2B6F1}"/>
              </a:ext>
            </a:extLst>
          </p:cNvPr>
          <p:cNvSpPr/>
          <p:nvPr/>
        </p:nvSpPr>
        <p:spPr>
          <a:xfrm>
            <a:off x="9893448" y="3438236"/>
            <a:ext cx="1621848" cy="56341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Audit</a:t>
            </a:r>
            <a:endParaRPr lang="ko-KR" altLang="en-US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12A598-26DE-537E-D483-DCDCC52AB993}"/>
              </a:ext>
            </a:extLst>
          </p:cNvPr>
          <p:cNvSpPr txBox="1"/>
          <p:nvPr/>
        </p:nvSpPr>
        <p:spPr>
          <a:xfrm>
            <a:off x="7379566" y="2659497"/>
            <a:ext cx="29819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 재현 및 검증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53E1F2-923D-0648-1730-0BABFACE379C}"/>
              </a:ext>
            </a:extLst>
          </p:cNvPr>
          <p:cNvSpPr txBox="1"/>
          <p:nvPr/>
        </p:nvSpPr>
        <p:spPr>
          <a:xfrm>
            <a:off x="6795531" y="4195618"/>
            <a:ext cx="4506362" cy="1714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앞선 단계에서 얻은 검증된 데이터들을 모두 모아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최종적인 계산을 진행하는 단계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계산값과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원본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논문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비교한 뒤 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오류의 종류를 분류해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사용자에게 출력함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25573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45D03-6E3C-A9F2-3516-1A72DB550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01D8B615-F6E4-4618-A141-7E2C72AEE55B}"/>
              </a:ext>
            </a:extLst>
          </p:cNvPr>
          <p:cNvGrpSpPr/>
          <p:nvPr/>
        </p:nvGrpSpPr>
        <p:grpSpPr>
          <a:xfrm>
            <a:off x="724189" y="626099"/>
            <a:ext cx="2675613" cy="676532"/>
            <a:chOff x="724189" y="626099"/>
            <a:chExt cx="2675613" cy="676532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BD7304E-DBDA-63D9-527F-E9EB6F4122AB}"/>
                </a:ext>
              </a:extLst>
            </p:cNvPr>
            <p:cNvSpPr/>
            <p:nvPr/>
          </p:nvSpPr>
          <p:spPr>
            <a:xfrm>
              <a:off x="733425" y="784223"/>
              <a:ext cx="2666377" cy="504825"/>
            </a:xfrm>
            <a:prstGeom prst="rect">
              <a:avLst/>
            </a:prstGeom>
            <a:solidFill>
              <a:srgbClr val="BDD3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FB2511B-BBFC-FBE5-BEDB-068F408D0308}"/>
                </a:ext>
              </a:extLst>
            </p:cNvPr>
            <p:cNvSpPr txBox="1"/>
            <p:nvPr/>
          </p:nvSpPr>
          <p:spPr>
            <a:xfrm>
              <a:off x="724189" y="626099"/>
              <a:ext cx="2675613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14350" indent="-514350">
                <a:lnSpc>
                  <a:spcPct val="150000"/>
                </a:lnSpc>
                <a:buAutoNum type="arabicPeriod"/>
              </a:pP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서비스 흐름도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31" name="제목 3">
            <a:extLst>
              <a:ext uri="{FF2B5EF4-FFF2-40B4-BE49-F238E27FC236}">
                <a16:creationId xmlns:a16="http://schemas.microsoft.com/office/drawing/2014/main" id="{AC660580-2126-8B8B-1EA0-1C95C2192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038" y="681034"/>
            <a:ext cx="5639666" cy="711201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1.</a:t>
            </a:r>
            <a:r>
              <a:rPr lang="ko-KR" altLang="en-US" sz="3200" dirty="0"/>
              <a:t>２</a:t>
            </a:r>
            <a:r>
              <a:rPr lang="en-US" altLang="ko-KR" sz="3200" dirty="0"/>
              <a:t> </a:t>
            </a:r>
            <a:r>
              <a:rPr lang="ko-KR" altLang="en-US" sz="3200" dirty="0"/>
              <a:t>전체 검증 프로세스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AF0D3FC-9F3F-1131-41A6-6149CB5FE36D}"/>
              </a:ext>
            </a:extLst>
          </p:cNvPr>
          <p:cNvSpPr/>
          <p:nvPr/>
        </p:nvSpPr>
        <p:spPr>
          <a:xfrm>
            <a:off x="724189" y="3429000"/>
            <a:ext cx="1621848" cy="563418"/>
          </a:xfrm>
          <a:prstGeom prst="roundRect">
            <a:avLst/>
          </a:prstGeom>
          <a:solidFill>
            <a:srgbClr val="E7F1FB"/>
          </a:solidFill>
          <a:ln w="19050">
            <a:solidFill>
              <a:srgbClr val="3F8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dirty="0">
              <a:solidFill>
                <a:srgbClr val="0D3F7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D424E0D-5265-687A-AA77-D05FFB56AEBD}"/>
              </a:ext>
            </a:extLst>
          </p:cNvPr>
          <p:cNvSpPr/>
          <p:nvPr/>
        </p:nvSpPr>
        <p:spPr>
          <a:xfrm>
            <a:off x="2558041" y="3429000"/>
            <a:ext cx="1621848" cy="563418"/>
          </a:xfrm>
          <a:prstGeom prst="roundRect">
            <a:avLst/>
          </a:prstGeom>
          <a:solidFill>
            <a:srgbClr val="EEEDFD"/>
          </a:solidFill>
          <a:ln w="19050">
            <a:solidFill>
              <a:srgbClr val="8D84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2D247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</a:t>
            </a:r>
            <a:endParaRPr lang="ko-KR" altLang="en-US" dirty="0">
              <a:solidFill>
                <a:srgbClr val="2D247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6DDF47E-8C6E-BD69-0ACE-17F35C0962B1}"/>
              </a:ext>
            </a:extLst>
          </p:cNvPr>
          <p:cNvSpPr/>
          <p:nvPr/>
        </p:nvSpPr>
        <p:spPr>
          <a:xfrm>
            <a:off x="4391892" y="3429000"/>
            <a:ext cx="1621848" cy="563418"/>
          </a:xfrm>
          <a:prstGeom prst="roundRect">
            <a:avLst/>
          </a:prstGeom>
          <a:solidFill>
            <a:srgbClr val="E1F4EE"/>
          </a:solidFill>
          <a:ln w="19050">
            <a:solidFill>
              <a:srgbClr val="4BB1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20665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Confirm</a:t>
            </a:r>
            <a:endParaRPr lang="ko-KR" altLang="en-US" dirty="0">
              <a:solidFill>
                <a:srgbClr val="20665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AD29369-E219-5143-505D-76B3D82F36F2}"/>
              </a:ext>
            </a:extLst>
          </p:cNvPr>
          <p:cNvSpPr/>
          <p:nvPr/>
        </p:nvSpPr>
        <p:spPr>
          <a:xfrm>
            <a:off x="6225744" y="3429000"/>
            <a:ext cx="1621848" cy="563418"/>
          </a:xfrm>
          <a:prstGeom prst="roundRect">
            <a:avLst/>
          </a:prstGeom>
          <a:solidFill>
            <a:srgbClr val="FDF3F1"/>
          </a:solidFill>
          <a:ln w="19050">
            <a:solidFill>
              <a:srgbClr val="E39F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endParaRPr lang="ko-KR" altLang="en-US" dirty="0">
              <a:solidFill>
                <a:schemeClr val="accent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9BC559E-C1BA-7A6F-AC08-A650DEC8CDE5}"/>
              </a:ext>
            </a:extLst>
          </p:cNvPr>
          <p:cNvSpPr/>
          <p:nvPr/>
        </p:nvSpPr>
        <p:spPr>
          <a:xfrm>
            <a:off x="8059596" y="3429000"/>
            <a:ext cx="1621848" cy="563418"/>
          </a:xfrm>
          <a:prstGeom prst="roundRect">
            <a:avLst/>
          </a:prstGeom>
          <a:solidFill>
            <a:srgbClr val="FCFACC"/>
          </a:solidFill>
          <a:ln w="19050">
            <a:solidFill>
              <a:srgbClr val="EDF1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Validate</a:t>
            </a:r>
            <a:endParaRPr lang="ko-KR" altLang="en-US" dirty="0">
              <a:solidFill>
                <a:srgbClr val="FFC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C08CD08-B338-51D2-303F-87EAAFEE8CA0}"/>
              </a:ext>
            </a:extLst>
          </p:cNvPr>
          <p:cNvSpPr/>
          <p:nvPr/>
        </p:nvSpPr>
        <p:spPr>
          <a:xfrm>
            <a:off x="9893448" y="3438236"/>
            <a:ext cx="1621848" cy="56341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Audit</a:t>
            </a:r>
            <a:endParaRPr lang="ko-KR" altLang="en-US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700F7FB-6F43-C0A5-FA85-AC8B60B90176}"/>
              </a:ext>
            </a:extLst>
          </p:cNvPr>
          <p:cNvGrpSpPr/>
          <p:nvPr/>
        </p:nvGrpSpPr>
        <p:grpSpPr>
          <a:xfrm>
            <a:off x="1481750" y="2620819"/>
            <a:ext cx="102971" cy="722745"/>
            <a:chOff x="1481750" y="2620819"/>
            <a:chExt cx="102971" cy="722745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6D103563-A16D-F444-589C-76CA7C81F1E0}"/>
                </a:ext>
              </a:extLst>
            </p:cNvPr>
            <p:cNvCxnSpPr/>
            <p:nvPr/>
          </p:nvCxnSpPr>
          <p:spPr>
            <a:xfrm>
              <a:off x="1533236" y="2706255"/>
              <a:ext cx="0" cy="637309"/>
            </a:xfrm>
            <a:prstGeom prst="line">
              <a:avLst/>
            </a:prstGeom>
            <a:ln>
              <a:solidFill>
                <a:srgbClr val="3F89D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95B4957D-269C-60E2-7E5A-31C45565DC8D}"/>
                </a:ext>
              </a:extLst>
            </p:cNvPr>
            <p:cNvSpPr/>
            <p:nvPr/>
          </p:nvSpPr>
          <p:spPr>
            <a:xfrm>
              <a:off x="1481750" y="2620819"/>
              <a:ext cx="102971" cy="104400"/>
            </a:xfrm>
            <a:prstGeom prst="ellipse">
              <a:avLst/>
            </a:prstGeom>
            <a:solidFill>
              <a:srgbClr val="3F89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E98CF5B5-2ACB-802C-6F45-4CE2D6909B46}"/>
              </a:ext>
            </a:extLst>
          </p:cNvPr>
          <p:cNvGrpSpPr/>
          <p:nvPr/>
        </p:nvGrpSpPr>
        <p:grpSpPr>
          <a:xfrm rot="10800000">
            <a:off x="3317479" y="4075547"/>
            <a:ext cx="102971" cy="722745"/>
            <a:chOff x="1481750" y="2620819"/>
            <a:chExt cx="102971" cy="722745"/>
          </a:xfrm>
          <a:solidFill>
            <a:srgbClr val="8D84D9"/>
          </a:solidFill>
        </p:grpSpPr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91955E9A-7ED4-F620-EF94-80470436E734}"/>
                </a:ext>
              </a:extLst>
            </p:cNvPr>
            <p:cNvCxnSpPr/>
            <p:nvPr/>
          </p:nvCxnSpPr>
          <p:spPr>
            <a:xfrm>
              <a:off x="1533236" y="2706255"/>
              <a:ext cx="0" cy="637309"/>
            </a:xfrm>
            <a:prstGeom prst="line">
              <a:avLst/>
            </a:prstGeom>
            <a:grpFill/>
            <a:ln>
              <a:solidFill>
                <a:srgbClr val="8D84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2E37280E-A958-3160-8182-CBCB40A0DCE9}"/>
                </a:ext>
              </a:extLst>
            </p:cNvPr>
            <p:cNvSpPr/>
            <p:nvPr/>
          </p:nvSpPr>
          <p:spPr>
            <a:xfrm>
              <a:off x="1481750" y="2620819"/>
              <a:ext cx="102971" cy="1044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A7BBBABF-51FF-1D82-86F8-0A3892E33C3E}"/>
              </a:ext>
            </a:extLst>
          </p:cNvPr>
          <p:cNvGrpSpPr/>
          <p:nvPr/>
        </p:nvGrpSpPr>
        <p:grpSpPr>
          <a:xfrm>
            <a:off x="5151330" y="2620819"/>
            <a:ext cx="102971" cy="722745"/>
            <a:chOff x="1481750" y="2620819"/>
            <a:chExt cx="102971" cy="722745"/>
          </a:xfrm>
          <a:solidFill>
            <a:srgbClr val="4BB191"/>
          </a:solidFill>
        </p:grpSpPr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6A2400F3-8F21-E6D2-FA80-7A2010A4841F}"/>
                </a:ext>
              </a:extLst>
            </p:cNvPr>
            <p:cNvCxnSpPr/>
            <p:nvPr/>
          </p:nvCxnSpPr>
          <p:spPr>
            <a:xfrm>
              <a:off x="1533236" y="2706255"/>
              <a:ext cx="0" cy="637309"/>
            </a:xfrm>
            <a:prstGeom prst="line">
              <a:avLst/>
            </a:prstGeom>
            <a:grpFill/>
            <a:ln>
              <a:solidFill>
                <a:srgbClr val="4BB1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7715907F-8BA9-1DAF-207F-4F8A27854351}"/>
                </a:ext>
              </a:extLst>
            </p:cNvPr>
            <p:cNvSpPr/>
            <p:nvPr/>
          </p:nvSpPr>
          <p:spPr>
            <a:xfrm>
              <a:off x="1481750" y="2620819"/>
              <a:ext cx="102971" cy="1044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1F2E5F6-C443-1BCA-8198-6F301E5B7069}"/>
              </a:ext>
            </a:extLst>
          </p:cNvPr>
          <p:cNvGrpSpPr/>
          <p:nvPr/>
        </p:nvGrpSpPr>
        <p:grpSpPr>
          <a:xfrm rot="10800000">
            <a:off x="6985182" y="4075547"/>
            <a:ext cx="102971" cy="722745"/>
            <a:chOff x="1481750" y="2620819"/>
            <a:chExt cx="102971" cy="722745"/>
          </a:xfrm>
          <a:solidFill>
            <a:srgbClr val="E39F87"/>
          </a:solidFill>
        </p:grpSpPr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4EF29E7A-AABF-C9E7-AAA4-3BEDEB863794}"/>
                </a:ext>
              </a:extLst>
            </p:cNvPr>
            <p:cNvCxnSpPr/>
            <p:nvPr/>
          </p:nvCxnSpPr>
          <p:spPr>
            <a:xfrm>
              <a:off x="1533236" y="2706255"/>
              <a:ext cx="0" cy="637309"/>
            </a:xfrm>
            <a:prstGeom prst="line">
              <a:avLst/>
            </a:prstGeom>
            <a:grpFill/>
            <a:ln>
              <a:solidFill>
                <a:srgbClr val="E39F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181C08AB-E96A-8686-A59F-C11CAF15ED60}"/>
                </a:ext>
              </a:extLst>
            </p:cNvPr>
            <p:cNvSpPr/>
            <p:nvPr/>
          </p:nvSpPr>
          <p:spPr>
            <a:xfrm>
              <a:off x="1481750" y="2620819"/>
              <a:ext cx="102971" cy="104400"/>
            </a:xfrm>
            <a:prstGeom prst="ellipse">
              <a:avLst/>
            </a:prstGeom>
            <a:grpFill/>
            <a:ln>
              <a:solidFill>
                <a:srgbClr val="E39F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539E02B-6BD4-133E-D8AD-1023C38E01D2}"/>
              </a:ext>
            </a:extLst>
          </p:cNvPr>
          <p:cNvGrpSpPr/>
          <p:nvPr/>
        </p:nvGrpSpPr>
        <p:grpSpPr>
          <a:xfrm rot="10800000">
            <a:off x="10704369" y="4075547"/>
            <a:ext cx="102971" cy="722745"/>
            <a:chOff x="1481750" y="2620819"/>
            <a:chExt cx="102971" cy="722745"/>
          </a:xfrm>
          <a:solidFill>
            <a:srgbClr val="595959"/>
          </a:solidFill>
        </p:grpSpPr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A63FBADC-23F4-48E4-B039-1116A7B2B102}"/>
                </a:ext>
              </a:extLst>
            </p:cNvPr>
            <p:cNvCxnSpPr/>
            <p:nvPr/>
          </p:nvCxnSpPr>
          <p:spPr>
            <a:xfrm>
              <a:off x="1533236" y="2706255"/>
              <a:ext cx="0" cy="637309"/>
            </a:xfrm>
            <a:prstGeom prst="line">
              <a:avLst/>
            </a:prstGeom>
            <a:grpFill/>
            <a:ln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75DFCDA8-416E-833D-EDC7-FB0B09AE00D6}"/>
                </a:ext>
              </a:extLst>
            </p:cNvPr>
            <p:cNvSpPr/>
            <p:nvPr/>
          </p:nvSpPr>
          <p:spPr>
            <a:xfrm>
              <a:off x="1481750" y="2620819"/>
              <a:ext cx="102971" cy="104400"/>
            </a:xfrm>
            <a:prstGeom prst="ellipse">
              <a:avLst/>
            </a:prstGeom>
            <a:grpFill/>
            <a:ln>
              <a:solidFill>
                <a:srgbClr val="59595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9D63EAE-BD3A-69F5-6B5E-FDFB7E121E2B}"/>
              </a:ext>
            </a:extLst>
          </p:cNvPr>
          <p:cNvGrpSpPr/>
          <p:nvPr/>
        </p:nvGrpSpPr>
        <p:grpSpPr>
          <a:xfrm>
            <a:off x="8872394" y="2620819"/>
            <a:ext cx="102971" cy="722745"/>
            <a:chOff x="1481750" y="2620819"/>
            <a:chExt cx="102971" cy="722745"/>
          </a:xfrm>
          <a:solidFill>
            <a:srgbClr val="F5F68A"/>
          </a:solidFill>
        </p:grpSpPr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3357063A-62DE-305A-0332-7EDF28C4B47F}"/>
                </a:ext>
              </a:extLst>
            </p:cNvPr>
            <p:cNvCxnSpPr/>
            <p:nvPr/>
          </p:nvCxnSpPr>
          <p:spPr>
            <a:xfrm>
              <a:off x="1533236" y="2706255"/>
              <a:ext cx="0" cy="637309"/>
            </a:xfrm>
            <a:prstGeom prst="line">
              <a:avLst/>
            </a:prstGeom>
            <a:grpFill/>
            <a:ln>
              <a:solidFill>
                <a:srgbClr val="F5F6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034CDBF8-F381-3338-80C3-D2B8CD8841C6}"/>
                </a:ext>
              </a:extLst>
            </p:cNvPr>
            <p:cNvSpPr/>
            <p:nvPr/>
          </p:nvSpPr>
          <p:spPr>
            <a:xfrm>
              <a:off x="1481750" y="2620819"/>
              <a:ext cx="102971" cy="104400"/>
            </a:xfrm>
            <a:prstGeom prst="ellipse">
              <a:avLst/>
            </a:prstGeom>
            <a:grpFill/>
            <a:ln>
              <a:solidFill>
                <a:srgbClr val="F5F6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C4C27FAD-DEAD-C8A6-DFC3-74D0D74DA0B7}"/>
              </a:ext>
            </a:extLst>
          </p:cNvPr>
          <p:cNvSpPr txBox="1"/>
          <p:nvPr/>
        </p:nvSpPr>
        <p:spPr>
          <a:xfrm>
            <a:off x="695243" y="2169699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</a:t>
            </a:r>
            <a:r>
              <a:rPr lang="ko-KR" altLang="en-US" dirty="0" err="1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수집∙분류</a:t>
            </a:r>
            <a:endParaRPr lang="ko-KR" altLang="en-US" dirty="0">
              <a:solidFill>
                <a:srgbClr val="0D3F7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AF2FFE2-EBC5-D073-4463-B6573987ADC2}"/>
              </a:ext>
            </a:extLst>
          </p:cNvPr>
          <p:cNvSpPr txBox="1"/>
          <p:nvPr/>
        </p:nvSpPr>
        <p:spPr>
          <a:xfrm>
            <a:off x="2394978" y="4860640"/>
            <a:ext cx="1947969" cy="74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38308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재계산에 필요한</a:t>
            </a:r>
            <a:endParaRPr lang="en-US" altLang="ko-KR" dirty="0">
              <a:solidFill>
                <a:srgbClr val="38308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38308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정보 및 데이터 추출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0DA2573-03E2-1DEB-B1CD-2D6DE68CEDE1}"/>
              </a:ext>
            </a:extLst>
          </p:cNvPr>
          <p:cNvSpPr txBox="1"/>
          <p:nvPr/>
        </p:nvSpPr>
        <p:spPr>
          <a:xfrm>
            <a:off x="4357070" y="1678730"/>
            <a:ext cx="1691489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20665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진행상황 중간</a:t>
            </a:r>
            <a:endParaRPr lang="en-US" altLang="ko-KR" dirty="0">
              <a:solidFill>
                <a:srgbClr val="20665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20665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승인 단계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357E59-6F15-E981-2E09-FEF9CB9EDAA5}"/>
              </a:ext>
            </a:extLst>
          </p:cNvPr>
          <p:cNvSpPr txBox="1"/>
          <p:nvPr/>
        </p:nvSpPr>
        <p:spPr>
          <a:xfrm>
            <a:off x="6190925" y="4795986"/>
            <a:ext cx="1691489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C04F1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수집 데이터 바탕</a:t>
            </a:r>
            <a:endParaRPr lang="en-US" altLang="ko-KR" dirty="0">
              <a:solidFill>
                <a:srgbClr val="C04F15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C04F1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재계산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833E2D-F62A-6AD1-B179-A0AA320A37A1}"/>
              </a:ext>
            </a:extLst>
          </p:cNvPr>
          <p:cNvSpPr txBox="1"/>
          <p:nvPr/>
        </p:nvSpPr>
        <p:spPr>
          <a:xfrm>
            <a:off x="8177521" y="1678729"/>
            <a:ext cx="1492716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결과값 대조 및</a:t>
            </a:r>
            <a:endParaRPr lang="en-US" altLang="ko-KR" dirty="0">
              <a:solidFill>
                <a:srgbClr val="FFC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오류 코드 분류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A2BB6F2-7215-B1E5-6FAA-88A7B97D764D}"/>
              </a:ext>
            </a:extLst>
          </p:cNvPr>
          <p:cNvSpPr txBox="1"/>
          <p:nvPr/>
        </p:nvSpPr>
        <p:spPr>
          <a:xfrm>
            <a:off x="10231511" y="4795986"/>
            <a:ext cx="1048685" cy="467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 출력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8CA3946-4296-9955-4070-2FBF2610D905}"/>
              </a:ext>
            </a:extLst>
          </p:cNvPr>
          <p:cNvGrpSpPr/>
          <p:nvPr/>
        </p:nvGrpSpPr>
        <p:grpSpPr>
          <a:xfrm>
            <a:off x="724189" y="5789039"/>
            <a:ext cx="10791107" cy="387927"/>
            <a:chOff x="724189" y="5907694"/>
            <a:chExt cx="10791107" cy="387927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720441F2-32E0-F215-A66E-3D1EA2EA1906}"/>
                </a:ext>
              </a:extLst>
            </p:cNvPr>
            <p:cNvCxnSpPr>
              <a:cxnSpLocks/>
            </p:cNvCxnSpPr>
            <p:nvPr/>
          </p:nvCxnSpPr>
          <p:spPr>
            <a:xfrm>
              <a:off x="724189" y="6097040"/>
              <a:ext cx="10791107" cy="923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744FFAC-8E57-4E3E-A9CB-69B7581FBAF8}"/>
                </a:ext>
              </a:extLst>
            </p:cNvPr>
            <p:cNvCxnSpPr/>
            <p:nvPr/>
          </p:nvCxnSpPr>
          <p:spPr>
            <a:xfrm>
              <a:off x="733425" y="5907694"/>
              <a:ext cx="0" cy="37869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890069F-C830-6966-3B4B-5807B15FE70B}"/>
                </a:ext>
              </a:extLst>
            </p:cNvPr>
            <p:cNvCxnSpPr/>
            <p:nvPr/>
          </p:nvCxnSpPr>
          <p:spPr>
            <a:xfrm>
              <a:off x="11515296" y="5916930"/>
              <a:ext cx="0" cy="37869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761B868F-57DC-701A-243D-B4E11FD517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4370" y="6006092"/>
              <a:ext cx="866" cy="19858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EBBEA4F-A0DC-6B0F-676A-DCA5098FEC83}"/>
              </a:ext>
            </a:extLst>
          </p:cNvPr>
          <p:cNvSpPr txBox="1"/>
          <p:nvPr/>
        </p:nvSpPr>
        <p:spPr>
          <a:xfrm>
            <a:off x="2406198" y="5817451"/>
            <a:ext cx="19255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effectLst>
                  <a:glow rad="330200">
                    <a:schemeClr val="bg1">
                      <a:lumMod val="95000"/>
                    </a:scheme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재계산 기반 구축 단계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4DDA8D-6E87-C7C4-6DD1-B1718C3DE8F3}"/>
              </a:ext>
            </a:extLst>
          </p:cNvPr>
          <p:cNvSpPr txBox="1"/>
          <p:nvPr/>
        </p:nvSpPr>
        <p:spPr>
          <a:xfrm>
            <a:off x="8139443" y="5798275"/>
            <a:ext cx="15824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effectLst>
                  <a:glow rad="330200">
                    <a:schemeClr val="bg1">
                      <a:lumMod val="95000"/>
                    </a:scheme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 재현 및 검증</a:t>
            </a:r>
          </a:p>
        </p:txBody>
      </p:sp>
    </p:spTree>
    <p:extLst>
      <p:ext uri="{BB962C8B-B14F-4D97-AF65-F5344CB8AC3E}">
        <p14:creationId xmlns:p14="http://schemas.microsoft.com/office/powerpoint/2010/main" val="2780190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ED467-BEDD-89C7-CE61-FB9C7DA64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82A58625-76A4-61ED-F7A5-45B05775C25A}"/>
              </a:ext>
            </a:extLst>
          </p:cNvPr>
          <p:cNvGrpSpPr/>
          <p:nvPr/>
        </p:nvGrpSpPr>
        <p:grpSpPr>
          <a:xfrm>
            <a:off x="724189" y="626099"/>
            <a:ext cx="2675613" cy="676532"/>
            <a:chOff x="724189" y="626099"/>
            <a:chExt cx="2675613" cy="676532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0DC8625-3BDE-4F97-D086-3F4DAC3FFA0A}"/>
                </a:ext>
              </a:extLst>
            </p:cNvPr>
            <p:cNvSpPr/>
            <p:nvPr/>
          </p:nvSpPr>
          <p:spPr>
            <a:xfrm>
              <a:off x="733425" y="784223"/>
              <a:ext cx="2666377" cy="504825"/>
            </a:xfrm>
            <a:prstGeom prst="rect">
              <a:avLst/>
            </a:prstGeom>
            <a:solidFill>
              <a:srgbClr val="BDD3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94BF8F0-6C94-C5E4-EB36-87B34672920D}"/>
                </a:ext>
              </a:extLst>
            </p:cNvPr>
            <p:cNvSpPr txBox="1"/>
            <p:nvPr/>
          </p:nvSpPr>
          <p:spPr>
            <a:xfrm>
              <a:off x="724189" y="626099"/>
              <a:ext cx="2675613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14350" indent="-514350">
                <a:lnSpc>
                  <a:spcPct val="150000"/>
                </a:lnSpc>
                <a:buAutoNum type="arabicPeriod"/>
              </a:pPr>
              <a:r>
                <a:rPr lang="ko-KR" altLang="en-US" sz="2800" b="1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서비스 흐름도</a:t>
              </a:r>
              <a:endParaRPr lang="en-US" altLang="ko-KR" sz="2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31" name="제목 3">
            <a:extLst>
              <a:ext uri="{FF2B5EF4-FFF2-40B4-BE49-F238E27FC236}">
                <a16:creationId xmlns:a16="http://schemas.microsoft.com/office/drawing/2014/main" id="{D28A239D-DF1E-5F31-9897-C963477A2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038" y="681034"/>
            <a:ext cx="5639666" cy="711201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1.3 </a:t>
            </a:r>
            <a:r>
              <a:rPr lang="en-US" altLang="ko-KR" sz="3200" dirty="0" err="1"/>
              <a:t>AI∙Python</a:t>
            </a:r>
            <a:r>
              <a:rPr lang="en-US" altLang="ko-KR" sz="3200" dirty="0"/>
              <a:t>∙</a:t>
            </a:r>
            <a:r>
              <a:rPr lang="ko-KR" altLang="en-US" sz="3200" dirty="0"/>
              <a:t>사용자 역할 구분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DFB9D4F-981A-F5A4-7E76-2B2075AB1C56}"/>
              </a:ext>
            </a:extLst>
          </p:cNvPr>
          <p:cNvSpPr/>
          <p:nvPr/>
        </p:nvSpPr>
        <p:spPr>
          <a:xfrm>
            <a:off x="724189" y="2390775"/>
            <a:ext cx="1621848" cy="563418"/>
          </a:xfrm>
          <a:prstGeom prst="roundRect">
            <a:avLst/>
          </a:prstGeom>
          <a:solidFill>
            <a:srgbClr val="E7F1FB"/>
          </a:solidFill>
          <a:ln w="19050">
            <a:solidFill>
              <a:srgbClr val="3F8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dirty="0">
              <a:solidFill>
                <a:srgbClr val="0D3F7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829166C-DD8C-4950-DE93-C5A058D9BBC1}"/>
              </a:ext>
            </a:extLst>
          </p:cNvPr>
          <p:cNvSpPr/>
          <p:nvPr/>
        </p:nvSpPr>
        <p:spPr>
          <a:xfrm>
            <a:off x="2558041" y="2390775"/>
            <a:ext cx="1621848" cy="563418"/>
          </a:xfrm>
          <a:prstGeom prst="roundRect">
            <a:avLst/>
          </a:prstGeom>
          <a:solidFill>
            <a:srgbClr val="EEEDFD"/>
          </a:solidFill>
          <a:ln w="19050">
            <a:solidFill>
              <a:srgbClr val="8D84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2D247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</a:t>
            </a:r>
            <a:endParaRPr lang="ko-KR" altLang="en-US" dirty="0">
              <a:solidFill>
                <a:srgbClr val="2D247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1317512E-EC43-5171-D708-58C3C8D8E316}"/>
              </a:ext>
            </a:extLst>
          </p:cNvPr>
          <p:cNvSpPr/>
          <p:nvPr/>
        </p:nvSpPr>
        <p:spPr>
          <a:xfrm>
            <a:off x="4391892" y="2390775"/>
            <a:ext cx="1621848" cy="563418"/>
          </a:xfrm>
          <a:prstGeom prst="roundRect">
            <a:avLst/>
          </a:prstGeom>
          <a:solidFill>
            <a:srgbClr val="E1F4EE"/>
          </a:solidFill>
          <a:ln w="19050">
            <a:solidFill>
              <a:srgbClr val="4BB1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20665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Confirm</a:t>
            </a:r>
            <a:endParaRPr lang="ko-KR" altLang="en-US" dirty="0">
              <a:solidFill>
                <a:srgbClr val="20665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C2ACD50E-6E0B-F11B-FB1D-03B218295917}"/>
              </a:ext>
            </a:extLst>
          </p:cNvPr>
          <p:cNvSpPr/>
          <p:nvPr/>
        </p:nvSpPr>
        <p:spPr>
          <a:xfrm>
            <a:off x="6225744" y="2390775"/>
            <a:ext cx="1621848" cy="563418"/>
          </a:xfrm>
          <a:prstGeom prst="roundRect">
            <a:avLst/>
          </a:prstGeom>
          <a:solidFill>
            <a:srgbClr val="FDF3F1"/>
          </a:solidFill>
          <a:ln w="19050">
            <a:solidFill>
              <a:srgbClr val="E39F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endParaRPr lang="ko-KR" altLang="en-US" dirty="0">
              <a:solidFill>
                <a:schemeClr val="accent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CF0BD7BF-ECA4-138C-EC91-D90B866A7FC5}"/>
              </a:ext>
            </a:extLst>
          </p:cNvPr>
          <p:cNvSpPr/>
          <p:nvPr/>
        </p:nvSpPr>
        <p:spPr>
          <a:xfrm>
            <a:off x="8059596" y="2390775"/>
            <a:ext cx="1621848" cy="563418"/>
          </a:xfrm>
          <a:prstGeom prst="roundRect">
            <a:avLst/>
          </a:prstGeom>
          <a:solidFill>
            <a:srgbClr val="FCFACC"/>
          </a:solidFill>
          <a:ln w="19050">
            <a:solidFill>
              <a:srgbClr val="EDF1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Validate</a:t>
            </a:r>
            <a:endParaRPr lang="ko-KR" altLang="en-US" dirty="0">
              <a:solidFill>
                <a:srgbClr val="FFC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F36087C2-77CF-1D5E-7B87-92C009B54297}"/>
              </a:ext>
            </a:extLst>
          </p:cNvPr>
          <p:cNvSpPr/>
          <p:nvPr/>
        </p:nvSpPr>
        <p:spPr>
          <a:xfrm>
            <a:off x="9893448" y="2400011"/>
            <a:ext cx="1621848" cy="56341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Audit</a:t>
            </a:r>
            <a:endParaRPr lang="ko-KR" altLang="en-US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029C67C5-3088-1406-7BC6-D30CBA1EC6E1}"/>
              </a:ext>
            </a:extLst>
          </p:cNvPr>
          <p:cNvGrpSpPr/>
          <p:nvPr/>
        </p:nvGrpSpPr>
        <p:grpSpPr>
          <a:xfrm>
            <a:off x="2630985" y="3118044"/>
            <a:ext cx="1475960" cy="459886"/>
            <a:chOff x="870077" y="1826169"/>
            <a:chExt cx="1475960" cy="459886"/>
          </a:xfrm>
        </p:grpSpPr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DB53BB95-D459-B357-149F-E09008253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0077" y="1826169"/>
              <a:ext cx="479886" cy="459886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BBB6C21-FF3A-A166-CA7D-57D24DD02E87}"/>
                </a:ext>
              </a:extLst>
            </p:cNvPr>
            <p:cNvSpPr txBox="1"/>
            <p:nvPr/>
          </p:nvSpPr>
          <p:spPr>
            <a:xfrm>
              <a:off x="1349963" y="1871446"/>
              <a:ext cx="996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40748D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AI(LLM)</a:t>
              </a:r>
              <a:endParaRPr lang="ko-KR" altLang="en-US" dirty="0">
                <a:solidFill>
                  <a:srgbClr val="40748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pic>
        <p:nvPicPr>
          <p:cNvPr id="60" name="그림 59">
            <a:extLst>
              <a:ext uri="{FF2B5EF4-FFF2-40B4-BE49-F238E27FC236}">
                <a16:creationId xmlns:a16="http://schemas.microsoft.com/office/drawing/2014/main" id="{85777ECF-2677-F6E1-82B1-84F5391F4CE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61" y="3168101"/>
            <a:ext cx="428434" cy="428434"/>
          </a:xfrm>
          <a:prstGeom prst="rect">
            <a:avLst/>
          </a:prstGeom>
        </p:spPr>
      </p:pic>
      <p:grpSp>
        <p:nvGrpSpPr>
          <p:cNvPr id="62" name="그룹 61">
            <a:extLst>
              <a:ext uri="{FF2B5EF4-FFF2-40B4-BE49-F238E27FC236}">
                <a16:creationId xmlns:a16="http://schemas.microsoft.com/office/drawing/2014/main" id="{37901067-A628-5F8E-B98C-81838CFBF31C}"/>
              </a:ext>
            </a:extLst>
          </p:cNvPr>
          <p:cNvGrpSpPr/>
          <p:nvPr/>
        </p:nvGrpSpPr>
        <p:grpSpPr>
          <a:xfrm>
            <a:off x="2665627" y="4207442"/>
            <a:ext cx="1468349" cy="428434"/>
            <a:chOff x="2798851" y="1812344"/>
            <a:chExt cx="1468349" cy="428434"/>
          </a:xfrm>
        </p:grpSpPr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1805F045-30B1-449C-E68A-EAA59B44A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8851" y="1812344"/>
              <a:ext cx="428434" cy="428434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12716D9-13F2-186F-5E2B-2A21D376C92F}"/>
                </a:ext>
              </a:extLst>
            </p:cNvPr>
            <p:cNvSpPr txBox="1"/>
            <p:nvPr/>
          </p:nvSpPr>
          <p:spPr>
            <a:xfrm>
              <a:off x="3227285" y="1841895"/>
              <a:ext cx="10399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C05720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Python</a:t>
              </a:r>
              <a:endParaRPr lang="ko-KR" altLang="en-US" dirty="0">
                <a:solidFill>
                  <a:srgbClr val="C0572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10AC4DA3-AF27-BB10-9DE0-5BEC136D417C}"/>
              </a:ext>
            </a:extLst>
          </p:cNvPr>
          <p:cNvGrpSpPr/>
          <p:nvPr/>
        </p:nvGrpSpPr>
        <p:grpSpPr>
          <a:xfrm>
            <a:off x="4464836" y="3118044"/>
            <a:ext cx="1475960" cy="459886"/>
            <a:chOff x="870077" y="1826169"/>
            <a:chExt cx="1475960" cy="459886"/>
          </a:xfrm>
        </p:grpSpPr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009314EE-38B2-CB1A-9FFF-E0F63BB08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0077" y="1826169"/>
              <a:ext cx="479886" cy="459886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46B8B8A-081B-2EBE-4C93-7DEC1C8E87A6}"/>
                </a:ext>
              </a:extLst>
            </p:cNvPr>
            <p:cNvSpPr txBox="1"/>
            <p:nvPr/>
          </p:nvSpPr>
          <p:spPr>
            <a:xfrm>
              <a:off x="1349963" y="1871446"/>
              <a:ext cx="996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40748D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AI(LLM)</a:t>
              </a:r>
              <a:endParaRPr lang="ko-KR" altLang="en-US" dirty="0">
                <a:solidFill>
                  <a:srgbClr val="40748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F19E3D3E-A19E-C0E7-226A-6A88209D62B2}"/>
              </a:ext>
            </a:extLst>
          </p:cNvPr>
          <p:cNvGrpSpPr/>
          <p:nvPr/>
        </p:nvGrpSpPr>
        <p:grpSpPr>
          <a:xfrm>
            <a:off x="4590426" y="4227728"/>
            <a:ext cx="1505574" cy="398883"/>
            <a:chOff x="4676173" y="1841895"/>
            <a:chExt cx="1505574" cy="398883"/>
          </a:xfrm>
        </p:grpSpPr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FDD9A8B5-C1D3-01F9-C01C-F11914800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6173" y="1841895"/>
              <a:ext cx="375371" cy="375371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D048E7C-FD59-1A8A-4D57-49D98102C5B5}"/>
                </a:ext>
              </a:extLst>
            </p:cNvPr>
            <p:cNvSpPr txBox="1"/>
            <p:nvPr/>
          </p:nvSpPr>
          <p:spPr>
            <a:xfrm>
              <a:off x="5051544" y="1871446"/>
              <a:ext cx="11302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rgbClr val="881E7D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사용자</a:t>
              </a: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4E59CCD4-1E86-664C-9FCC-2F0AEB27F5B7}"/>
              </a:ext>
            </a:extLst>
          </p:cNvPr>
          <p:cNvGrpSpPr/>
          <p:nvPr/>
        </p:nvGrpSpPr>
        <p:grpSpPr>
          <a:xfrm>
            <a:off x="6363853" y="3168101"/>
            <a:ext cx="1468349" cy="428434"/>
            <a:chOff x="2798851" y="1812344"/>
            <a:chExt cx="1468349" cy="428434"/>
          </a:xfrm>
        </p:grpSpPr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55A5E983-62AC-82F6-E58F-BC0C0C4DA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8851" y="1812344"/>
              <a:ext cx="428434" cy="42843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6D4B06D-EEA9-63D3-18A6-4DBA63CBE6D1}"/>
                </a:ext>
              </a:extLst>
            </p:cNvPr>
            <p:cNvSpPr txBox="1"/>
            <p:nvPr/>
          </p:nvSpPr>
          <p:spPr>
            <a:xfrm>
              <a:off x="3227285" y="1841895"/>
              <a:ext cx="10399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C05720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Python</a:t>
              </a:r>
              <a:endParaRPr lang="ko-KR" altLang="en-US" dirty="0">
                <a:solidFill>
                  <a:srgbClr val="C0572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046DEE41-F06A-67DE-C63D-A94ED4A6B3A2}"/>
              </a:ext>
            </a:extLst>
          </p:cNvPr>
          <p:cNvGrpSpPr/>
          <p:nvPr/>
        </p:nvGrpSpPr>
        <p:grpSpPr>
          <a:xfrm>
            <a:off x="10039336" y="3113263"/>
            <a:ext cx="1475960" cy="459886"/>
            <a:chOff x="870077" y="1826169"/>
            <a:chExt cx="1475960" cy="459886"/>
          </a:xfrm>
        </p:grpSpPr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5EA33AB2-0D74-5645-7FD9-4B2FD6B86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0077" y="1826169"/>
              <a:ext cx="479886" cy="459886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5D1E741-3E56-7A23-E6EC-72946F5E36C5}"/>
                </a:ext>
              </a:extLst>
            </p:cNvPr>
            <p:cNvSpPr txBox="1"/>
            <p:nvPr/>
          </p:nvSpPr>
          <p:spPr>
            <a:xfrm>
              <a:off x="1349963" y="1871446"/>
              <a:ext cx="996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40748D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AI(LLM)</a:t>
              </a:r>
              <a:endParaRPr lang="ko-KR" altLang="en-US" dirty="0">
                <a:solidFill>
                  <a:srgbClr val="40748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8B7CD95F-422A-FCDC-B301-38BBCC8AF005}"/>
              </a:ext>
            </a:extLst>
          </p:cNvPr>
          <p:cNvGrpSpPr/>
          <p:nvPr/>
        </p:nvGrpSpPr>
        <p:grpSpPr>
          <a:xfrm>
            <a:off x="10298068" y="4198177"/>
            <a:ext cx="1505574" cy="398883"/>
            <a:chOff x="4676173" y="1841895"/>
            <a:chExt cx="1505574" cy="398883"/>
          </a:xfrm>
        </p:grpSpPr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63259521-4F11-239C-5A77-EC5310F98D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6173" y="1841895"/>
              <a:ext cx="375371" cy="375371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6539F56-376A-BBA6-9A1B-836C55FED4CF}"/>
                </a:ext>
              </a:extLst>
            </p:cNvPr>
            <p:cNvSpPr txBox="1"/>
            <p:nvPr/>
          </p:nvSpPr>
          <p:spPr>
            <a:xfrm>
              <a:off x="5051544" y="1871446"/>
              <a:ext cx="11302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rgbClr val="881E7D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사용자</a:t>
              </a:r>
            </a:p>
          </p:txBody>
        </p:sp>
      </p:grpSp>
      <p:pic>
        <p:nvPicPr>
          <p:cNvPr id="84" name="그림 83">
            <a:extLst>
              <a:ext uri="{FF2B5EF4-FFF2-40B4-BE49-F238E27FC236}">
                <a16:creationId xmlns:a16="http://schemas.microsoft.com/office/drawing/2014/main" id="{66BA5AFF-D109-4C02-C281-F8C49569123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842" y="4198177"/>
            <a:ext cx="375371" cy="375371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27B2F2DD-AF20-22B6-C737-E55BDA1E447A}"/>
              </a:ext>
            </a:extLst>
          </p:cNvPr>
          <p:cNvSpPr txBox="1"/>
          <p:nvPr/>
        </p:nvSpPr>
        <p:spPr>
          <a:xfrm>
            <a:off x="1141145" y="4623199"/>
            <a:ext cx="845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 입력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E0DEA3B-F700-D344-6EE8-AFD70ED8FE96}"/>
              </a:ext>
            </a:extLst>
          </p:cNvPr>
          <p:cNvSpPr txBox="1"/>
          <p:nvPr/>
        </p:nvSpPr>
        <p:spPr>
          <a:xfrm>
            <a:off x="1131527" y="3634321"/>
            <a:ext cx="854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 분류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967703E-DA36-D740-03A1-42F0935FB495}"/>
              </a:ext>
            </a:extLst>
          </p:cNvPr>
          <p:cNvSpPr txBox="1"/>
          <p:nvPr/>
        </p:nvSpPr>
        <p:spPr>
          <a:xfrm>
            <a:off x="2869471" y="4676776"/>
            <a:ext cx="9989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추출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F75EC9E-22C7-9133-59AB-F74B14BEADD5}"/>
              </a:ext>
            </a:extLst>
          </p:cNvPr>
          <p:cNvSpPr txBox="1"/>
          <p:nvPr/>
        </p:nvSpPr>
        <p:spPr>
          <a:xfrm>
            <a:off x="2593757" y="3600616"/>
            <a:ext cx="1550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입력 파일 내용 파악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7A080CA-351B-45E3-74DC-782D87E58B98}"/>
              </a:ext>
            </a:extLst>
          </p:cNvPr>
          <p:cNvSpPr txBox="1"/>
          <p:nvPr/>
        </p:nvSpPr>
        <p:spPr>
          <a:xfrm>
            <a:off x="4568225" y="3566984"/>
            <a:ext cx="1197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질문 내용 통합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피드백반영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14E6D31-7FD2-619C-143B-0B26DE7A5037}"/>
              </a:ext>
            </a:extLst>
          </p:cNvPr>
          <p:cNvSpPr txBox="1"/>
          <p:nvPr/>
        </p:nvSpPr>
        <p:spPr>
          <a:xfrm>
            <a:off x="4422195" y="4624435"/>
            <a:ext cx="1406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질문 확인 및 답변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2E83119-EC12-D54F-3570-D6E36666B904}"/>
              </a:ext>
            </a:extLst>
          </p:cNvPr>
          <p:cNvSpPr txBox="1"/>
          <p:nvPr/>
        </p:nvSpPr>
        <p:spPr>
          <a:xfrm>
            <a:off x="6245875" y="3637435"/>
            <a:ext cx="17043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추출 데이터 기반 계산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B6C4AAF-BFAA-6940-D96F-856CD7234A2A}"/>
              </a:ext>
            </a:extLst>
          </p:cNvPr>
          <p:cNvSpPr txBox="1"/>
          <p:nvPr/>
        </p:nvSpPr>
        <p:spPr>
          <a:xfrm>
            <a:off x="9883118" y="3600616"/>
            <a:ext cx="17139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오류코드 분류 및 출력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301FDD1-4D21-DA87-6547-7F0125D152AD}"/>
              </a:ext>
            </a:extLst>
          </p:cNvPr>
          <p:cNvSpPr txBox="1"/>
          <p:nvPr/>
        </p:nvSpPr>
        <p:spPr>
          <a:xfrm>
            <a:off x="10370450" y="4637974"/>
            <a:ext cx="854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 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C90F2-F31B-3C61-4E40-E50C70E6A58A}"/>
              </a:ext>
            </a:extLst>
          </p:cNvPr>
          <p:cNvSpPr txBox="1"/>
          <p:nvPr/>
        </p:nvSpPr>
        <p:spPr>
          <a:xfrm>
            <a:off x="1309838" y="4207442"/>
            <a:ext cx="1130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881E7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627EB1-918A-93F1-125C-78ADFD21EAA4}"/>
              </a:ext>
            </a:extLst>
          </p:cNvPr>
          <p:cNvSpPr txBox="1"/>
          <p:nvPr/>
        </p:nvSpPr>
        <p:spPr>
          <a:xfrm>
            <a:off x="1252532" y="3197652"/>
            <a:ext cx="103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C0572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Python</a:t>
            </a:r>
            <a:endParaRPr lang="ko-KR" altLang="en-US" dirty="0">
              <a:solidFill>
                <a:srgbClr val="C0572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951DD62-6806-3D40-5F45-8B75A20AC6FF}"/>
              </a:ext>
            </a:extLst>
          </p:cNvPr>
          <p:cNvGrpSpPr/>
          <p:nvPr/>
        </p:nvGrpSpPr>
        <p:grpSpPr>
          <a:xfrm>
            <a:off x="8174047" y="3116623"/>
            <a:ext cx="1475960" cy="459886"/>
            <a:chOff x="870077" y="1826169"/>
            <a:chExt cx="1475960" cy="459886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C82709E-E1C0-5902-9460-AC8A4EA6B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0077" y="1826169"/>
              <a:ext cx="479886" cy="45988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B91FE60-794C-5D40-99B3-BB2DF3D8EB68}"/>
                </a:ext>
              </a:extLst>
            </p:cNvPr>
            <p:cNvSpPr txBox="1"/>
            <p:nvPr/>
          </p:nvSpPr>
          <p:spPr>
            <a:xfrm>
              <a:off x="1349963" y="1871446"/>
              <a:ext cx="996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40748D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AI(LLM)</a:t>
              </a:r>
              <a:endParaRPr lang="ko-KR" altLang="en-US" dirty="0">
                <a:solidFill>
                  <a:srgbClr val="40748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144E0CD-941A-3C35-ED8A-805ED238F6DD}"/>
              </a:ext>
            </a:extLst>
          </p:cNvPr>
          <p:cNvGrpSpPr/>
          <p:nvPr/>
        </p:nvGrpSpPr>
        <p:grpSpPr>
          <a:xfrm>
            <a:off x="8208689" y="4206021"/>
            <a:ext cx="1468349" cy="428434"/>
            <a:chOff x="2798851" y="1812344"/>
            <a:chExt cx="1468349" cy="428434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FB6BD826-4E5A-395F-A9E8-7320A611E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8851" y="1812344"/>
              <a:ext cx="428434" cy="42843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2158F8A-A870-218D-700D-40C3FBC3FF8B}"/>
                </a:ext>
              </a:extLst>
            </p:cNvPr>
            <p:cNvSpPr txBox="1"/>
            <p:nvPr/>
          </p:nvSpPr>
          <p:spPr>
            <a:xfrm>
              <a:off x="3227285" y="1841895"/>
              <a:ext cx="10399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C05720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Python</a:t>
              </a:r>
              <a:endParaRPr lang="ko-KR" altLang="en-US" dirty="0">
                <a:solidFill>
                  <a:srgbClr val="C0572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4E1AAE3-B83B-01E6-A01F-15B060A5F7FA}"/>
              </a:ext>
            </a:extLst>
          </p:cNvPr>
          <p:cNvSpPr txBox="1"/>
          <p:nvPr/>
        </p:nvSpPr>
        <p:spPr>
          <a:xfrm>
            <a:off x="7924421" y="4675355"/>
            <a:ext cx="19752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논문 문장 추출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Recompute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값과 비교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0422C1-419B-36A7-07DF-B85630292CF5}"/>
              </a:ext>
            </a:extLst>
          </p:cNvPr>
          <p:cNvSpPr txBox="1"/>
          <p:nvPr/>
        </p:nvSpPr>
        <p:spPr>
          <a:xfrm>
            <a:off x="8308341" y="3599195"/>
            <a:ext cx="1207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문장 종류 분류</a:t>
            </a:r>
          </a:p>
        </p:txBody>
      </p:sp>
    </p:spTree>
    <p:extLst>
      <p:ext uri="{BB962C8B-B14F-4D97-AF65-F5344CB8AC3E}">
        <p14:creationId xmlns:p14="http://schemas.microsoft.com/office/powerpoint/2010/main" val="2963374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7EFE58C8-BF1C-F1D5-A165-840BF4F6710D}"/>
              </a:ext>
            </a:extLst>
          </p:cNvPr>
          <p:cNvGrpSpPr/>
          <p:nvPr/>
        </p:nvGrpSpPr>
        <p:grpSpPr>
          <a:xfrm>
            <a:off x="724189" y="626099"/>
            <a:ext cx="4512829" cy="676532"/>
            <a:chOff x="724189" y="626099"/>
            <a:chExt cx="4512829" cy="6765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6A633C1-3571-2E48-8772-3BC52EAD46CF}"/>
                </a:ext>
              </a:extLst>
            </p:cNvPr>
            <p:cNvSpPr/>
            <p:nvPr/>
          </p:nvSpPr>
          <p:spPr>
            <a:xfrm>
              <a:off x="733425" y="784223"/>
              <a:ext cx="4418238" cy="504825"/>
            </a:xfrm>
            <a:prstGeom prst="rect">
              <a:avLst/>
            </a:prstGeom>
            <a:solidFill>
              <a:srgbClr val="578F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D04DBCD-82EE-569A-26C5-E46131DE5426}"/>
                </a:ext>
              </a:extLst>
            </p:cNvPr>
            <p:cNvSpPr txBox="1"/>
            <p:nvPr/>
          </p:nvSpPr>
          <p:spPr>
            <a:xfrm>
              <a:off x="724189" y="626099"/>
              <a:ext cx="4512829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2.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Measure Trace 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구조 설계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B572165-883F-02F7-4061-298E7EB26FCB}"/>
              </a:ext>
            </a:extLst>
          </p:cNvPr>
          <p:cNvSpPr/>
          <p:nvPr/>
        </p:nvSpPr>
        <p:spPr>
          <a:xfrm>
            <a:off x="724189" y="1647535"/>
            <a:ext cx="1621848" cy="563418"/>
          </a:xfrm>
          <a:prstGeom prst="roundRect">
            <a:avLst/>
          </a:prstGeom>
          <a:solidFill>
            <a:srgbClr val="E7F1FB"/>
          </a:solidFill>
          <a:ln w="19050">
            <a:solidFill>
              <a:srgbClr val="3F8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dirty="0">
              <a:solidFill>
                <a:srgbClr val="0D3F7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88336C0-D120-F92D-4C63-4A0DC59DDB64}"/>
              </a:ext>
            </a:extLst>
          </p:cNvPr>
          <p:cNvSpPr/>
          <p:nvPr/>
        </p:nvSpPr>
        <p:spPr>
          <a:xfrm>
            <a:off x="2558041" y="1647535"/>
            <a:ext cx="1621848" cy="563418"/>
          </a:xfrm>
          <a:prstGeom prst="roundRect">
            <a:avLst/>
          </a:prstGeom>
          <a:solidFill>
            <a:srgbClr val="EEEDFD"/>
          </a:solidFill>
          <a:ln w="19050">
            <a:solidFill>
              <a:srgbClr val="8D84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2D247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</a:t>
            </a:r>
            <a:endParaRPr lang="ko-KR" altLang="en-US" dirty="0">
              <a:solidFill>
                <a:srgbClr val="2D247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934E2C3-D297-0935-0E69-A22CCC55F9D6}"/>
              </a:ext>
            </a:extLst>
          </p:cNvPr>
          <p:cNvSpPr/>
          <p:nvPr/>
        </p:nvSpPr>
        <p:spPr>
          <a:xfrm>
            <a:off x="4391892" y="1647535"/>
            <a:ext cx="1621848" cy="563418"/>
          </a:xfrm>
          <a:prstGeom prst="roundRect">
            <a:avLst/>
          </a:prstGeom>
          <a:solidFill>
            <a:srgbClr val="E1F4EE"/>
          </a:solidFill>
          <a:ln w="19050">
            <a:solidFill>
              <a:srgbClr val="4BB1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20665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Confirm</a:t>
            </a:r>
            <a:endParaRPr lang="ko-KR" altLang="en-US" dirty="0">
              <a:solidFill>
                <a:srgbClr val="20665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1A181B4-50B4-7D45-9864-2ADDBCB313C7}"/>
              </a:ext>
            </a:extLst>
          </p:cNvPr>
          <p:cNvSpPr/>
          <p:nvPr/>
        </p:nvSpPr>
        <p:spPr>
          <a:xfrm>
            <a:off x="6225744" y="1647535"/>
            <a:ext cx="1621848" cy="563418"/>
          </a:xfrm>
          <a:prstGeom prst="roundRect">
            <a:avLst/>
          </a:prstGeom>
          <a:solidFill>
            <a:srgbClr val="FDF3F1"/>
          </a:solidFill>
          <a:ln w="19050">
            <a:solidFill>
              <a:srgbClr val="E39F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endParaRPr lang="ko-KR" altLang="en-US" dirty="0">
              <a:solidFill>
                <a:schemeClr val="accent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5F381B9-C33C-A21F-AACD-BAA09AEE3D8F}"/>
              </a:ext>
            </a:extLst>
          </p:cNvPr>
          <p:cNvSpPr/>
          <p:nvPr/>
        </p:nvSpPr>
        <p:spPr>
          <a:xfrm>
            <a:off x="8059596" y="1647535"/>
            <a:ext cx="1621848" cy="563418"/>
          </a:xfrm>
          <a:prstGeom prst="roundRect">
            <a:avLst/>
          </a:prstGeom>
          <a:solidFill>
            <a:srgbClr val="FCFACC"/>
          </a:solidFill>
          <a:ln w="19050">
            <a:solidFill>
              <a:srgbClr val="EDF1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Validate</a:t>
            </a:r>
            <a:endParaRPr lang="ko-KR" altLang="en-US" dirty="0">
              <a:solidFill>
                <a:srgbClr val="FFC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013725E1-C23F-B620-C688-CF8934568587}"/>
              </a:ext>
            </a:extLst>
          </p:cNvPr>
          <p:cNvSpPr/>
          <p:nvPr/>
        </p:nvSpPr>
        <p:spPr>
          <a:xfrm>
            <a:off x="9893448" y="1656771"/>
            <a:ext cx="1621848" cy="56341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Audit</a:t>
            </a:r>
            <a:endParaRPr lang="ko-KR" altLang="en-US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B5F2F8-ED9C-F7C7-0D85-953F2EF04060}"/>
              </a:ext>
            </a:extLst>
          </p:cNvPr>
          <p:cNvSpPr txBox="1"/>
          <p:nvPr/>
        </p:nvSpPr>
        <p:spPr>
          <a:xfrm>
            <a:off x="724189" y="2300627"/>
            <a:ext cx="1852238" cy="3851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① 입력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격리∙분류</a:t>
            </a:r>
            <a:b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ko-KR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RAW / 연구 계획서 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장비 사양서 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보고서로 분류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② 해시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종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 해시를 저장해 기록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③ 산출물 이력 장부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파이프라인의 과정 중에서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만들어 낸 중간 산출물 마다 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해시 한 줄씩 기록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④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Scan AI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Scan AI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논문 전달 후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내용 분석 병렬적 진행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2490C1-7426-97D0-6043-B2353C188360}"/>
              </a:ext>
            </a:extLst>
          </p:cNvPr>
          <p:cNvSpPr txBox="1"/>
          <p:nvPr/>
        </p:nvSpPr>
        <p:spPr>
          <a:xfrm>
            <a:off x="2558041" y="2300626"/>
            <a:ext cx="1802096" cy="3851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① 입력 데이터 분석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lphaLcPeriod"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내용 파악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lphaLcPeriod"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계획서 수식 변환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lphaLcPeriod"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실험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기기 매칭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② 측정 조건 추출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장비 사양서에서 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측정 범위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오차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등 추출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③ 데이터 구조화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단위 누락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모호한 단위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결측치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이상치 파악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④ 누락 점검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계획서와 데이터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 목록 대조 후 누락점검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AF6719-70A3-51EA-973A-849C338F8081}"/>
              </a:ext>
            </a:extLst>
          </p:cNvPr>
          <p:cNvSpPr txBox="1"/>
          <p:nvPr/>
        </p:nvSpPr>
        <p:spPr>
          <a:xfrm>
            <a:off x="4391892" y="2300626"/>
            <a:ext cx="1660391" cy="2697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① 데이터 해석 승인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 ①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 승인 및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피드백 반영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② 장비 사양 확인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 ②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 승인 및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피드백 반영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③ 데이터 이상 확인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 ③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 승인 및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피드백 반영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870812-C653-2D35-D562-304AFFE3D292}"/>
              </a:ext>
            </a:extLst>
          </p:cNvPr>
          <p:cNvSpPr txBox="1"/>
          <p:nvPr/>
        </p:nvSpPr>
        <p:spPr>
          <a:xfrm>
            <a:off x="6225743" y="2300626"/>
            <a:ext cx="1576072" cy="20970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① 수치 재계산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RAW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Data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수식을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이용해 수치 재계산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② 계산 로그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계산 과정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결과값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 해시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코드 해시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정보를 로그로 저장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151A4D-71B1-29F8-03E3-5E0725756476}"/>
              </a:ext>
            </a:extLst>
          </p:cNvPr>
          <p:cNvSpPr txBox="1"/>
          <p:nvPr/>
        </p:nvSpPr>
        <p:spPr>
          <a:xfrm>
            <a:off x="8059596" y="2300626"/>
            <a:ext cx="1701107" cy="29742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① 논문 문장 추출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err="1">
                <a:solidFill>
                  <a:srgbClr val="747474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pySBD</a:t>
            </a:r>
            <a:r>
              <a:rPr lang="en-US" altLang="ko-KR" sz="1200" dirty="0">
                <a:solidFill>
                  <a:srgbClr val="747474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200" dirty="0">
                <a:solidFill>
                  <a:srgbClr val="747474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라이브러리를 </a:t>
            </a:r>
            <a:endParaRPr lang="en-US" altLang="ko-KR" sz="1200" dirty="0">
              <a:solidFill>
                <a:srgbClr val="747474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747474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이용해 논문 속 문장 추출</a:t>
            </a:r>
            <a:endParaRPr lang="en-US" altLang="ko-KR" sz="1200" dirty="0">
              <a:solidFill>
                <a:srgbClr val="747474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747474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LLM </a:t>
            </a:r>
            <a:r>
              <a:rPr lang="ko-KR" altLang="en-US" sz="1200" dirty="0">
                <a:solidFill>
                  <a:srgbClr val="747474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이용해 문장 분류</a:t>
            </a:r>
            <a:endParaRPr lang="en-US" altLang="ko-KR" sz="1200" dirty="0">
              <a:solidFill>
                <a:srgbClr val="747474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② </a:t>
            </a:r>
            <a:r>
              <a:rPr lang="ko-KR" altLang="en-US" sz="1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재계산값과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비교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보고서 속 </a:t>
            </a:r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계산값과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값을 비교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③ 오류 코드 분류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주장별 참 거짓 판정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후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코드별 오류 분류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9D7F74-8985-45C8-0C53-FBF69CE90D03}"/>
              </a:ext>
            </a:extLst>
          </p:cNvPr>
          <p:cNvSpPr txBox="1"/>
          <p:nvPr/>
        </p:nvSpPr>
        <p:spPr>
          <a:xfrm>
            <a:off x="9893448" y="2300626"/>
            <a:ext cx="1656223" cy="1820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① 결과 출력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Supported /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Unsupported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별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 </a:t>
            </a:r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출력∙오류코드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분류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② 수정 후 재평가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연구자 수정 후 재실행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6812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145D7-9A8F-32A9-A436-D256DC88F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2FCE73C2-B6A2-3D86-8484-E0EFDB391290}"/>
              </a:ext>
            </a:extLst>
          </p:cNvPr>
          <p:cNvGrpSpPr/>
          <p:nvPr/>
        </p:nvGrpSpPr>
        <p:grpSpPr>
          <a:xfrm>
            <a:off x="724189" y="626099"/>
            <a:ext cx="4512829" cy="676532"/>
            <a:chOff x="724189" y="626099"/>
            <a:chExt cx="4512829" cy="6765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013E208-9FAB-2745-F53B-4B5B0D23B092}"/>
                </a:ext>
              </a:extLst>
            </p:cNvPr>
            <p:cNvSpPr/>
            <p:nvPr/>
          </p:nvSpPr>
          <p:spPr>
            <a:xfrm>
              <a:off x="733425" y="784223"/>
              <a:ext cx="4418238" cy="504825"/>
            </a:xfrm>
            <a:prstGeom prst="rect">
              <a:avLst/>
            </a:prstGeom>
            <a:solidFill>
              <a:srgbClr val="578F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C65851-91BC-A8E9-B077-8D230392C38B}"/>
                </a:ext>
              </a:extLst>
            </p:cNvPr>
            <p:cNvSpPr txBox="1"/>
            <p:nvPr/>
          </p:nvSpPr>
          <p:spPr>
            <a:xfrm>
              <a:off x="724189" y="626099"/>
              <a:ext cx="4512829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2.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Measure Trace 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구조 설계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975F63E-00B0-4E81-4EDE-107D862708EB}"/>
              </a:ext>
            </a:extLst>
          </p:cNvPr>
          <p:cNvSpPr txBox="1"/>
          <p:nvPr/>
        </p:nvSpPr>
        <p:spPr>
          <a:xfrm>
            <a:off x="3048000" y="257550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5400" dirty="0">
                <a:effectLst>
                  <a:glow rad="228600">
                    <a:srgbClr val="FFFF00">
                      <a:alpha val="42000"/>
                    </a:srgb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[Scenario]</a:t>
            </a:r>
            <a:endParaRPr lang="ko-KR" altLang="en-US" sz="5400" dirty="0">
              <a:effectLst>
                <a:glow rad="228600">
                  <a:srgbClr val="FFFF00">
                    <a:alpha val="42000"/>
                  </a:srgbClr>
                </a:glo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FB890-51B0-3429-DC29-F8F22544D714}"/>
              </a:ext>
            </a:extLst>
          </p:cNvPr>
          <p:cNvSpPr txBox="1"/>
          <p:nvPr/>
        </p:nvSpPr>
        <p:spPr>
          <a:xfrm>
            <a:off x="2659161" y="3648363"/>
            <a:ext cx="6873678" cy="1298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가벼운 공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무거운 공의 운동들에 대한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역학적 에너지 보존 확인 실험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→ 데이터 파일들과 실험 보고서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논문 초안을 가지고 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Measure Trace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1680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6512D-F2A3-7C92-F379-03624BA5F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2FF0F5BC-C550-D7B6-0073-6EB654EC0E94}"/>
              </a:ext>
            </a:extLst>
          </p:cNvPr>
          <p:cNvGrpSpPr/>
          <p:nvPr/>
        </p:nvGrpSpPr>
        <p:grpSpPr>
          <a:xfrm>
            <a:off x="724189" y="626099"/>
            <a:ext cx="4512829" cy="676532"/>
            <a:chOff x="724189" y="626099"/>
            <a:chExt cx="4512829" cy="6765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85239C-8347-AEDC-562D-37F05335BF26}"/>
                </a:ext>
              </a:extLst>
            </p:cNvPr>
            <p:cNvSpPr/>
            <p:nvPr/>
          </p:nvSpPr>
          <p:spPr>
            <a:xfrm>
              <a:off x="733425" y="784223"/>
              <a:ext cx="4418238" cy="504825"/>
            </a:xfrm>
            <a:prstGeom prst="rect">
              <a:avLst/>
            </a:prstGeom>
            <a:solidFill>
              <a:srgbClr val="578F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3887C4D-C708-FF1B-3FC4-2AFBEC9CE65A}"/>
                </a:ext>
              </a:extLst>
            </p:cNvPr>
            <p:cNvSpPr txBox="1"/>
            <p:nvPr/>
          </p:nvSpPr>
          <p:spPr>
            <a:xfrm>
              <a:off x="724189" y="626099"/>
              <a:ext cx="4512829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2.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Measure Trace 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구조 설계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5" name="제목 3">
            <a:extLst>
              <a:ext uri="{FF2B5EF4-FFF2-40B4-BE49-F238E27FC236}">
                <a16:creationId xmlns:a16="http://schemas.microsoft.com/office/drawing/2014/main" id="{0D991ABC-9345-997C-7FFE-347B63191E8D}"/>
              </a:ext>
            </a:extLst>
          </p:cNvPr>
          <p:cNvSpPr txBox="1">
            <a:spLocks/>
          </p:cNvSpPr>
          <p:nvPr/>
        </p:nvSpPr>
        <p:spPr>
          <a:xfrm>
            <a:off x="5170137" y="784223"/>
            <a:ext cx="6643174" cy="71120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2.1 [Scenario] 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재계산 기반 구축 단계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75C33BD-94BA-0A0F-6B26-DC4433FCDF35}"/>
              </a:ext>
            </a:extLst>
          </p:cNvPr>
          <p:cNvSpPr/>
          <p:nvPr/>
        </p:nvSpPr>
        <p:spPr>
          <a:xfrm>
            <a:off x="724189" y="1447172"/>
            <a:ext cx="1621848" cy="351849"/>
          </a:xfrm>
          <a:prstGeom prst="roundRect">
            <a:avLst/>
          </a:prstGeom>
          <a:solidFill>
            <a:srgbClr val="E7F1FB"/>
          </a:solidFill>
          <a:ln w="19050">
            <a:solidFill>
              <a:srgbClr val="3F8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sz="1400" dirty="0">
              <a:solidFill>
                <a:srgbClr val="0D3F7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AD81FF5-AE73-4ABC-5389-3A454369196C}"/>
              </a:ext>
            </a:extLst>
          </p:cNvPr>
          <p:cNvSpPr/>
          <p:nvPr/>
        </p:nvSpPr>
        <p:spPr>
          <a:xfrm>
            <a:off x="2558041" y="1447172"/>
            <a:ext cx="1621848" cy="351849"/>
          </a:xfrm>
          <a:prstGeom prst="roundRect">
            <a:avLst/>
          </a:prstGeom>
          <a:solidFill>
            <a:srgbClr val="EEEDFD"/>
          </a:solidFill>
          <a:ln w="19050">
            <a:solidFill>
              <a:srgbClr val="8D84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D247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</a:t>
            </a:r>
            <a:endParaRPr lang="ko-KR" altLang="en-US" sz="1400" dirty="0">
              <a:solidFill>
                <a:srgbClr val="2D247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5DC9FE7-B07A-E58A-23AA-C54D03DBEB79}"/>
              </a:ext>
            </a:extLst>
          </p:cNvPr>
          <p:cNvSpPr/>
          <p:nvPr/>
        </p:nvSpPr>
        <p:spPr>
          <a:xfrm>
            <a:off x="4391892" y="1447172"/>
            <a:ext cx="1621848" cy="351849"/>
          </a:xfrm>
          <a:prstGeom prst="roundRect">
            <a:avLst/>
          </a:prstGeom>
          <a:solidFill>
            <a:srgbClr val="E1F4EE"/>
          </a:solidFill>
          <a:ln w="19050">
            <a:solidFill>
              <a:srgbClr val="4BB1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0665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Confirm</a:t>
            </a:r>
            <a:endParaRPr lang="ko-KR" altLang="en-US" sz="1400" dirty="0">
              <a:solidFill>
                <a:srgbClr val="20665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9CF742E-7A10-35CD-D3E3-0FB3193DD0C4}"/>
              </a:ext>
            </a:extLst>
          </p:cNvPr>
          <p:cNvSpPr/>
          <p:nvPr/>
        </p:nvSpPr>
        <p:spPr>
          <a:xfrm>
            <a:off x="6225743" y="1447172"/>
            <a:ext cx="1621849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8CA289C-F5EC-125F-FA67-FD3B857346F1}"/>
              </a:ext>
            </a:extLst>
          </p:cNvPr>
          <p:cNvSpPr/>
          <p:nvPr/>
        </p:nvSpPr>
        <p:spPr>
          <a:xfrm>
            <a:off x="8059596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Validate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D7A7228-7CE6-A2A8-CF8E-D83D034BA3B6}"/>
              </a:ext>
            </a:extLst>
          </p:cNvPr>
          <p:cNvSpPr/>
          <p:nvPr/>
        </p:nvSpPr>
        <p:spPr>
          <a:xfrm>
            <a:off x="9893447" y="1456408"/>
            <a:ext cx="1621849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Audit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7E06E8E-E6D3-9BCB-AD48-1DBBA5C8A2D0}"/>
              </a:ext>
            </a:extLst>
          </p:cNvPr>
          <p:cNvSpPr/>
          <p:nvPr/>
        </p:nvSpPr>
        <p:spPr>
          <a:xfrm>
            <a:off x="780068" y="3613727"/>
            <a:ext cx="1621848" cy="563418"/>
          </a:xfrm>
          <a:prstGeom prst="roundRect">
            <a:avLst/>
          </a:prstGeom>
          <a:solidFill>
            <a:srgbClr val="E7F1FB"/>
          </a:solidFill>
          <a:ln w="19050">
            <a:solidFill>
              <a:srgbClr val="3F8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dirty="0">
              <a:solidFill>
                <a:srgbClr val="0D3F7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A62B0D-B3D6-B8FA-E388-BF9D3327DE11}"/>
              </a:ext>
            </a:extLst>
          </p:cNvPr>
          <p:cNvSpPr txBox="1"/>
          <p:nvPr/>
        </p:nvSpPr>
        <p:spPr>
          <a:xfrm>
            <a:off x="725210" y="4257117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</a:t>
            </a:r>
            <a:r>
              <a:rPr lang="ko-KR" altLang="en-US" dirty="0" err="1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수집∙분류</a:t>
            </a:r>
            <a:endParaRPr lang="ko-KR" altLang="en-US" dirty="0">
              <a:solidFill>
                <a:srgbClr val="0D3F7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6C7DE3FC-F345-7791-5E2D-5DD16F7F26C7}"/>
              </a:ext>
            </a:extLst>
          </p:cNvPr>
          <p:cNvGrpSpPr/>
          <p:nvPr/>
        </p:nvGrpSpPr>
        <p:grpSpPr>
          <a:xfrm>
            <a:off x="4391891" y="3283193"/>
            <a:ext cx="2119403" cy="1535855"/>
            <a:chOff x="3033233" y="2298029"/>
            <a:chExt cx="2547306" cy="1844102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E030210D-8816-2DD6-24A7-6FCCA22FF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3466507" y="2298029"/>
              <a:ext cx="1662218" cy="1385181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A4064C9-97F8-DD76-3916-2F6DA8B44AEE}"/>
                </a:ext>
              </a:extLst>
            </p:cNvPr>
            <p:cNvSpPr txBox="1"/>
            <p:nvPr/>
          </p:nvSpPr>
          <p:spPr>
            <a:xfrm>
              <a:off x="3033233" y="3735629"/>
              <a:ext cx="2547306" cy="406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가벼운 공 데이터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.xlsx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6D6CBCF9-1571-3F5D-1A43-2429A5A43FBA}"/>
              </a:ext>
            </a:extLst>
          </p:cNvPr>
          <p:cNvGrpSpPr/>
          <p:nvPr/>
        </p:nvGrpSpPr>
        <p:grpSpPr>
          <a:xfrm>
            <a:off x="7646267" y="3283193"/>
            <a:ext cx="2119403" cy="1501436"/>
            <a:chOff x="3104678" y="4109973"/>
            <a:chExt cx="2547306" cy="1802775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DB9DDBDB-47C8-62B5-5439-EFD12381B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3466507" y="4109973"/>
              <a:ext cx="1662218" cy="1385181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619F6D-3188-96A9-05FA-9F96FC2346FD}"/>
                </a:ext>
              </a:extLst>
            </p:cNvPr>
            <p:cNvSpPr txBox="1"/>
            <p:nvPr/>
          </p:nvSpPr>
          <p:spPr>
            <a:xfrm>
              <a:off x="3104678" y="5506246"/>
              <a:ext cx="2547306" cy="406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무거운 공 데이터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.xlsx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C4ADB3BF-45CC-E65E-5830-CBC076C7517D}"/>
              </a:ext>
            </a:extLst>
          </p:cNvPr>
          <p:cNvGrpSpPr/>
          <p:nvPr/>
        </p:nvGrpSpPr>
        <p:grpSpPr>
          <a:xfrm>
            <a:off x="6176313" y="3226454"/>
            <a:ext cx="1621848" cy="1536176"/>
            <a:chOff x="5898296" y="3043366"/>
            <a:chExt cx="1949296" cy="1844487"/>
          </a:xfrm>
        </p:grpSpPr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280D9C29-97DF-A9D2-8CAE-DC7248B7DC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6260385" y="3043366"/>
              <a:ext cx="1249847" cy="1479176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9231371-0466-4314-C7C9-9F09BB585AB5}"/>
                </a:ext>
              </a:extLst>
            </p:cNvPr>
            <p:cNvSpPr txBox="1"/>
            <p:nvPr/>
          </p:nvSpPr>
          <p:spPr>
            <a:xfrm>
              <a:off x="5898296" y="4549299"/>
              <a:ext cx="19492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장비 사양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.pdf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A24D3735-8D6A-822F-D28F-94FD89B6EAE4}"/>
              </a:ext>
            </a:extLst>
          </p:cNvPr>
          <p:cNvGrpSpPr/>
          <p:nvPr/>
        </p:nvGrpSpPr>
        <p:grpSpPr>
          <a:xfrm>
            <a:off x="2649960" y="3314580"/>
            <a:ext cx="2030716" cy="1492198"/>
            <a:chOff x="8138172" y="2314718"/>
            <a:chExt cx="2440714" cy="1791683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3ACAFC0E-16DE-D74D-C21C-770072C14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8641893" y="2314718"/>
              <a:ext cx="1468961" cy="1385181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48DBE57-8192-4F3D-E4A3-2DA13E51B261}"/>
                </a:ext>
              </a:extLst>
            </p:cNvPr>
            <p:cNvSpPr txBox="1"/>
            <p:nvPr/>
          </p:nvSpPr>
          <p:spPr>
            <a:xfrm>
              <a:off x="8138172" y="3699899"/>
              <a:ext cx="2440714" cy="406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실험 계획서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.docx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158D359-1232-E02C-4BC2-260C390A6EF9}"/>
              </a:ext>
            </a:extLst>
          </p:cNvPr>
          <p:cNvGrpSpPr/>
          <p:nvPr/>
        </p:nvGrpSpPr>
        <p:grpSpPr>
          <a:xfrm>
            <a:off x="9378193" y="3292431"/>
            <a:ext cx="1621848" cy="1435608"/>
            <a:chOff x="8401724" y="4109973"/>
            <a:chExt cx="1949296" cy="1723735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E8E6D93F-B2D5-4794-397B-1A59264F1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8641892" y="4109973"/>
              <a:ext cx="1468961" cy="1385181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8D068A0-3939-7842-914B-19C7C9676778}"/>
                </a:ext>
              </a:extLst>
            </p:cNvPr>
            <p:cNvSpPr txBox="1"/>
            <p:nvPr/>
          </p:nvSpPr>
          <p:spPr>
            <a:xfrm>
              <a:off x="8401724" y="5495154"/>
              <a:ext cx="19492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논문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.docx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pic>
        <p:nvPicPr>
          <p:cNvPr id="58" name="그림 57">
            <a:extLst>
              <a:ext uri="{FF2B5EF4-FFF2-40B4-BE49-F238E27FC236}">
                <a16:creationId xmlns:a16="http://schemas.microsoft.com/office/drawing/2014/main" id="{6DEF70E3-FCB8-2CC9-96F2-8617D69414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829" y="2015288"/>
            <a:ext cx="748041" cy="74804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392D1A5E-DFA6-826D-FD90-82ACD3F5E365}"/>
              </a:ext>
            </a:extLst>
          </p:cNvPr>
          <p:cNvSpPr txBox="1"/>
          <p:nvPr/>
        </p:nvSpPr>
        <p:spPr>
          <a:xfrm>
            <a:off x="6116870" y="2239052"/>
            <a:ext cx="2100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사용자의 데이터 입력</a:t>
            </a:r>
          </a:p>
        </p:txBody>
      </p:sp>
      <p:sp>
        <p:nvSpPr>
          <p:cNvPr id="65" name="화살표: 아래쪽 64">
            <a:extLst>
              <a:ext uri="{FF2B5EF4-FFF2-40B4-BE49-F238E27FC236}">
                <a16:creationId xmlns:a16="http://schemas.microsoft.com/office/drawing/2014/main" id="{B48EFBB9-5D0B-7682-9E3C-794F11D48A1C}"/>
              </a:ext>
            </a:extLst>
          </p:cNvPr>
          <p:cNvSpPr/>
          <p:nvPr/>
        </p:nvSpPr>
        <p:spPr>
          <a:xfrm>
            <a:off x="6692993" y="2761122"/>
            <a:ext cx="500942" cy="369332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glow rad="1778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화살표: 아래쪽 66">
            <a:extLst>
              <a:ext uri="{FF2B5EF4-FFF2-40B4-BE49-F238E27FC236}">
                <a16:creationId xmlns:a16="http://schemas.microsoft.com/office/drawing/2014/main" id="{1AB52133-6ADF-1624-FD0C-F093B1DA5F79}"/>
              </a:ext>
            </a:extLst>
          </p:cNvPr>
          <p:cNvSpPr/>
          <p:nvPr/>
        </p:nvSpPr>
        <p:spPr>
          <a:xfrm>
            <a:off x="6692993" y="5003877"/>
            <a:ext cx="500942" cy="369332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glow rad="1778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C09884C-7627-5571-E9D0-9AEEA4FDC14B}"/>
              </a:ext>
            </a:extLst>
          </p:cNvPr>
          <p:cNvSpPr txBox="1"/>
          <p:nvPr/>
        </p:nvSpPr>
        <p:spPr>
          <a:xfrm>
            <a:off x="5630604" y="5551677"/>
            <a:ext cx="262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Measure Trace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에게 전달</a:t>
            </a:r>
          </a:p>
        </p:txBody>
      </p:sp>
    </p:spTree>
    <p:extLst>
      <p:ext uri="{BB962C8B-B14F-4D97-AF65-F5344CB8AC3E}">
        <p14:creationId xmlns:p14="http://schemas.microsoft.com/office/powerpoint/2010/main" val="6694761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6880F-8385-D28F-0671-BE594701F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2972D3D9-B806-F017-B17F-B7FE945FB3BC}"/>
              </a:ext>
            </a:extLst>
          </p:cNvPr>
          <p:cNvGrpSpPr/>
          <p:nvPr/>
        </p:nvGrpSpPr>
        <p:grpSpPr>
          <a:xfrm>
            <a:off x="724189" y="626099"/>
            <a:ext cx="4512829" cy="676532"/>
            <a:chOff x="724189" y="626099"/>
            <a:chExt cx="4512829" cy="6765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C8B24AB-1D78-DC2C-144D-572139AE640D}"/>
                </a:ext>
              </a:extLst>
            </p:cNvPr>
            <p:cNvSpPr/>
            <p:nvPr/>
          </p:nvSpPr>
          <p:spPr>
            <a:xfrm>
              <a:off x="733425" y="784223"/>
              <a:ext cx="4418238" cy="504825"/>
            </a:xfrm>
            <a:prstGeom prst="rect">
              <a:avLst/>
            </a:prstGeom>
            <a:solidFill>
              <a:srgbClr val="578F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9569406-EEA7-6DC3-14CC-1A20EC3BD30E}"/>
                </a:ext>
              </a:extLst>
            </p:cNvPr>
            <p:cNvSpPr txBox="1"/>
            <p:nvPr/>
          </p:nvSpPr>
          <p:spPr>
            <a:xfrm>
              <a:off x="724189" y="626099"/>
              <a:ext cx="4512829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2.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Measure Trace 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구조 설계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5" name="제목 3">
            <a:extLst>
              <a:ext uri="{FF2B5EF4-FFF2-40B4-BE49-F238E27FC236}">
                <a16:creationId xmlns:a16="http://schemas.microsoft.com/office/drawing/2014/main" id="{E8954B9C-3010-EF94-308B-0D2696A601BC}"/>
              </a:ext>
            </a:extLst>
          </p:cNvPr>
          <p:cNvSpPr txBox="1">
            <a:spLocks/>
          </p:cNvSpPr>
          <p:nvPr/>
        </p:nvSpPr>
        <p:spPr>
          <a:xfrm>
            <a:off x="5170137" y="784223"/>
            <a:ext cx="6643174" cy="71120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2.1 [Scenario] 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재계산 기반 구축 단계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C873FD4-74B1-4291-DBDD-25275CC095C8}"/>
              </a:ext>
            </a:extLst>
          </p:cNvPr>
          <p:cNvSpPr/>
          <p:nvPr/>
        </p:nvSpPr>
        <p:spPr>
          <a:xfrm>
            <a:off x="724189" y="1447172"/>
            <a:ext cx="1621848" cy="351849"/>
          </a:xfrm>
          <a:prstGeom prst="roundRect">
            <a:avLst/>
          </a:prstGeom>
          <a:solidFill>
            <a:srgbClr val="E7F1FB"/>
          </a:solidFill>
          <a:ln w="19050">
            <a:solidFill>
              <a:srgbClr val="3F8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sz="1400" dirty="0">
              <a:solidFill>
                <a:srgbClr val="0D3F7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A0A4D32-AE76-EA12-D0D0-0A2B9F7911C0}"/>
              </a:ext>
            </a:extLst>
          </p:cNvPr>
          <p:cNvSpPr/>
          <p:nvPr/>
        </p:nvSpPr>
        <p:spPr>
          <a:xfrm>
            <a:off x="2558041" y="1447172"/>
            <a:ext cx="1621848" cy="351849"/>
          </a:xfrm>
          <a:prstGeom prst="roundRect">
            <a:avLst/>
          </a:prstGeom>
          <a:solidFill>
            <a:srgbClr val="EEEDFD"/>
          </a:solidFill>
          <a:ln w="19050">
            <a:solidFill>
              <a:srgbClr val="8D84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D247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</a:t>
            </a:r>
            <a:endParaRPr lang="ko-KR" altLang="en-US" sz="1400" dirty="0">
              <a:solidFill>
                <a:srgbClr val="2D247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F8DE660-7EC2-DB94-DA49-599663DCE9E9}"/>
              </a:ext>
            </a:extLst>
          </p:cNvPr>
          <p:cNvSpPr/>
          <p:nvPr/>
        </p:nvSpPr>
        <p:spPr>
          <a:xfrm>
            <a:off x="4391892" y="1447172"/>
            <a:ext cx="1621848" cy="351849"/>
          </a:xfrm>
          <a:prstGeom prst="roundRect">
            <a:avLst/>
          </a:prstGeom>
          <a:solidFill>
            <a:srgbClr val="E1F4EE"/>
          </a:solidFill>
          <a:ln w="19050">
            <a:solidFill>
              <a:srgbClr val="4BB1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0665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Confirm</a:t>
            </a:r>
            <a:endParaRPr lang="ko-KR" altLang="en-US" sz="1400" dirty="0">
              <a:solidFill>
                <a:srgbClr val="20665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9D887B5-9E6D-5DA3-44AB-329E0AB8D354}"/>
              </a:ext>
            </a:extLst>
          </p:cNvPr>
          <p:cNvSpPr/>
          <p:nvPr/>
        </p:nvSpPr>
        <p:spPr>
          <a:xfrm>
            <a:off x="6225743" y="1447172"/>
            <a:ext cx="1621849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BDFD230-CF40-B92E-C9F1-7E93ED172AB2}"/>
              </a:ext>
            </a:extLst>
          </p:cNvPr>
          <p:cNvSpPr/>
          <p:nvPr/>
        </p:nvSpPr>
        <p:spPr>
          <a:xfrm>
            <a:off x="8059596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Validate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54F01CB-A2EE-FD8D-D806-03C77338CC76}"/>
              </a:ext>
            </a:extLst>
          </p:cNvPr>
          <p:cNvSpPr/>
          <p:nvPr/>
        </p:nvSpPr>
        <p:spPr>
          <a:xfrm>
            <a:off x="9893447" y="1456408"/>
            <a:ext cx="1621849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Audit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E5039C3-F5F2-D48B-5358-2421A568D8DF}"/>
              </a:ext>
            </a:extLst>
          </p:cNvPr>
          <p:cNvSpPr/>
          <p:nvPr/>
        </p:nvSpPr>
        <p:spPr>
          <a:xfrm>
            <a:off x="780068" y="3613727"/>
            <a:ext cx="1621848" cy="563418"/>
          </a:xfrm>
          <a:prstGeom prst="roundRect">
            <a:avLst/>
          </a:prstGeom>
          <a:solidFill>
            <a:srgbClr val="E7F1FB"/>
          </a:solidFill>
          <a:ln w="19050">
            <a:solidFill>
              <a:srgbClr val="3F8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dirty="0">
              <a:solidFill>
                <a:srgbClr val="0D3F7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E658C1-E8E6-F771-2B52-B84378E34D68}"/>
              </a:ext>
            </a:extLst>
          </p:cNvPr>
          <p:cNvSpPr txBox="1"/>
          <p:nvPr/>
        </p:nvSpPr>
        <p:spPr>
          <a:xfrm>
            <a:off x="725210" y="4257117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</a:t>
            </a:r>
            <a:r>
              <a:rPr lang="ko-KR" altLang="en-US" dirty="0" err="1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수집∙분류</a:t>
            </a:r>
            <a:endParaRPr lang="ko-KR" altLang="en-US" dirty="0">
              <a:solidFill>
                <a:srgbClr val="0D3F7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9480F29-918F-530B-4829-D2E6A6168C8C}"/>
              </a:ext>
            </a:extLst>
          </p:cNvPr>
          <p:cNvGrpSpPr/>
          <p:nvPr/>
        </p:nvGrpSpPr>
        <p:grpSpPr>
          <a:xfrm>
            <a:off x="3436503" y="2562586"/>
            <a:ext cx="2119403" cy="1535855"/>
            <a:chOff x="3033233" y="2298029"/>
            <a:chExt cx="2547306" cy="1844102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28F8E18A-3EA0-2480-B54A-6F249FFC6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3466507" y="2298029"/>
              <a:ext cx="1662218" cy="1385181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A380EDA-9F60-A381-EC2A-3E8EEB1001FC}"/>
                </a:ext>
              </a:extLst>
            </p:cNvPr>
            <p:cNvSpPr txBox="1"/>
            <p:nvPr/>
          </p:nvSpPr>
          <p:spPr>
            <a:xfrm>
              <a:off x="3033233" y="3735629"/>
              <a:ext cx="2547306" cy="406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가벼운 공 데이터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.xlsx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B9E9791-1A9E-D67F-9556-007DE7F3EE89}"/>
              </a:ext>
            </a:extLst>
          </p:cNvPr>
          <p:cNvGrpSpPr/>
          <p:nvPr/>
        </p:nvGrpSpPr>
        <p:grpSpPr>
          <a:xfrm>
            <a:off x="3476260" y="4120553"/>
            <a:ext cx="2119403" cy="1501436"/>
            <a:chOff x="3104678" y="4109973"/>
            <a:chExt cx="2547306" cy="1802775"/>
          </a:xfrm>
        </p:grpSpPr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051BC5C2-9FFE-4A8C-6C99-5491E2BCF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3466507" y="4109973"/>
              <a:ext cx="1662218" cy="1385181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3BECECB-75E6-1F46-6CBE-572B5F78DFE6}"/>
                </a:ext>
              </a:extLst>
            </p:cNvPr>
            <p:cNvSpPr txBox="1"/>
            <p:nvPr/>
          </p:nvSpPr>
          <p:spPr>
            <a:xfrm>
              <a:off x="3104678" y="5506246"/>
              <a:ext cx="2547306" cy="406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무거운 공 데이터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.xlsx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1DB9947-45EF-C293-E3AF-9E6DA1FA715E}"/>
              </a:ext>
            </a:extLst>
          </p:cNvPr>
          <p:cNvGrpSpPr/>
          <p:nvPr/>
        </p:nvGrpSpPr>
        <p:grpSpPr>
          <a:xfrm>
            <a:off x="8870520" y="3330352"/>
            <a:ext cx="1621848" cy="1536176"/>
            <a:chOff x="5898296" y="3043366"/>
            <a:chExt cx="1949296" cy="1844487"/>
          </a:xfrm>
        </p:grpSpPr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DD9B3573-1C71-5E3F-7E85-FDC92970B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6260385" y="3043366"/>
              <a:ext cx="1249847" cy="1479176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4E456F6-8C20-37DE-D8DC-E3061BD675F3}"/>
                </a:ext>
              </a:extLst>
            </p:cNvPr>
            <p:cNvSpPr txBox="1"/>
            <p:nvPr/>
          </p:nvSpPr>
          <p:spPr>
            <a:xfrm>
              <a:off x="5898296" y="4549299"/>
              <a:ext cx="19492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장비 사양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.pdf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5BE431F7-A847-9A75-B28F-CD5992B38A44}"/>
              </a:ext>
            </a:extLst>
          </p:cNvPr>
          <p:cNvGrpSpPr/>
          <p:nvPr/>
        </p:nvGrpSpPr>
        <p:grpSpPr>
          <a:xfrm>
            <a:off x="6040820" y="4217731"/>
            <a:ext cx="2030716" cy="1492198"/>
            <a:chOff x="8138172" y="2314718"/>
            <a:chExt cx="2440714" cy="1791683"/>
          </a:xfrm>
        </p:grpSpPr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A3D494ED-975E-0523-AEC8-9E646128C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8641893" y="2314718"/>
              <a:ext cx="1468961" cy="1385181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1835221-AA8A-682E-ED5F-404AE9E9C9E8}"/>
                </a:ext>
              </a:extLst>
            </p:cNvPr>
            <p:cNvSpPr txBox="1"/>
            <p:nvPr/>
          </p:nvSpPr>
          <p:spPr>
            <a:xfrm>
              <a:off x="8138172" y="3699899"/>
              <a:ext cx="2440714" cy="406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실험 계획서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.docx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AE445EA3-65DF-31ED-A1C2-43504D6BCCCF}"/>
              </a:ext>
            </a:extLst>
          </p:cNvPr>
          <p:cNvGrpSpPr/>
          <p:nvPr/>
        </p:nvGrpSpPr>
        <p:grpSpPr>
          <a:xfrm>
            <a:off x="6245254" y="2662833"/>
            <a:ext cx="1621848" cy="1435608"/>
            <a:chOff x="8401724" y="4109973"/>
            <a:chExt cx="1949296" cy="1723735"/>
          </a:xfrm>
        </p:grpSpPr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99E3511F-5AAF-2700-E8AA-A03435DAC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8641892" y="4109973"/>
              <a:ext cx="1468961" cy="138518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A1628F9-8257-2C7F-2472-143EB152863C}"/>
                </a:ext>
              </a:extLst>
            </p:cNvPr>
            <p:cNvSpPr txBox="1"/>
            <p:nvPr/>
          </p:nvSpPr>
          <p:spPr>
            <a:xfrm>
              <a:off x="8401724" y="5495154"/>
              <a:ext cx="19492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논문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.docx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1454596-DC14-33B0-5646-03B253A0CF88}"/>
              </a:ext>
            </a:extLst>
          </p:cNvPr>
          <p:cNvSpPr/>
          <p:nvPr/>
        </p:nvSpPr>
        <p:spPr>
          <a:xfrm>
            <a:off x="3357708" y="2383266"/>
            <a:ext cx="2180936" cy="346084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EFDC8876-674D-2529-415B-B23ECA5E067F}"/>
              </a:ext>
            </a:extLst>
          </p:cNvPr>
          <p:cNvSpPr/>
          <p:nvPr/>
        </p:nvSpPr>
        <p:spPr>
          <a:xfrm>
            <a:off x="5974342" y="2393395"/>
            <a:ext cx="2180936" cy="346084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4F6E7CC8-66CA-CA72-EA6C-21B86859A718}"/>
              </a:ext>
            </a:extLst>
          </p:cNvPr>
          <p:cNvSpPr/>
          <p:nvPr/>
        </p:nvSpPr>
        <p:spPr>
          <a:xfrm>
            <a:off x="8590976" y="3029527"/>
            <a:ext cx="2180936" cy="202945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1BF2CC9-193E-B2C4-D86C-3D031E049727}"/>
              </a:ext>
            </a:extLst>
          </p:cNvPr>
          <p:cNvSpPr txBox="1"/>
          <p:nvPr/>
        </p:nvSpPr>
        <p:spPr>
          <a:xfrm>
            <a:off x="3998163" y="2236339"/>
            <a:ext cx="9412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effectLst>
                  <a:glow rad="330200">
                    <a:schemeClr val="bg1">
                      <a:lumMod val="95000"/>
                    </a:scheme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엑셀 파일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FDA59AE-125B-3CF2-4702-9469A0829A60}"/>
              </a:ext>
            </a:extLst>
          </p:cNvPr>
          <p:cNvSpPr txBox="1"/>
          <p:nvPr/>
        </p:nvSpPr>
        <p:spPr>
          <a:xfrm>
            <a:off x="6585536" y="2232026"/>
            <a:ext cx="9412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effectLst>
                  <a:glow rad="330200">
                    <a:schemeClr val="bg1">
                      <a:lumMod val="95000"/>
                    </a:scheme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워드 파일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0E9ED7F-4452-6FB0-A4FF-66DF05020D44}"/>
              </a:ext>
            </a:extLst>
          </p:cNvPr>
          <p:cNvSpPr txBox="1"/>
          <p:nvPr/>
        </p:nvSpPr>
        <p:spPr>
          <a:xfrm>
            <a:off x="9205059" y="2860250"/>
            <a:ext cx="9733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effectLst>
                  <a:glow rad="330200">
                    <a:schemeClr val="bg1">
                      <a:lumMod val="95000"/>
                    </a:scheme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PDF </a:t>
            </a:r>
            <a:r>
              <a:rPr lang="ko-KR" altLang="en-US" sz="1600" dirty="0">
                <a:effectLst>
                  <a:glow rad="330200">
                    <a:schemeClr val="bg1">
                      <a:lumMod val="95000"/>
                    </a:scheme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</a:t>
            </a:r>
          </a:p>
        </p:txBody>
      </p:sp>
    </p:spTree>
    <p:extLst>
      <p:ext uri="{BB962C8B-B14F-4D97-AF65-F5344CB8AC3E}">
        <p14:creationId xmlns:p14="http://schemas.microsoft.com/office/powerpoint/2010/main" val="5752263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6E586-B828-B3E2-8123-3590F2E51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4D18F531-291E-1C30-755D-28FA0F8A7F51}"/>
              </a:ext>
            </a:extLst>
          </p:cNvPr>
          <p:cNvGrpSpPr/>
          <p:nvPr/>
        </p:nvGrpSpPr>
        <p:grpSpPr>
          <a:xfrm>
            <a:off x="724189" y="626099"/>
            <a:ext cx="4512829" cy="676532"/>
            <a:chOff x="724189" y="626099"/>
            <a:chExt cx="4512829" cy="6765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9A96053-D117-9908-80CD-53FD9036BB71}"/>
                </a:ext>
              </a:extLst>
            </p:cNvPr>
            <p:cNvSpPr/>
            <p:nvPr/>
          </p:nvSpPr>
          <p:spPr>
            <a:xfrm>
              <a:off x="733425" y="784223"/>
              <a:ext cx="4418238" cy="504825"/>
            </a:xfrm>
            <a:prstGeom prst="rect">
              <a:avLst/>
            </a:prstGeom>
            <a:solidFill>
              <a:srgbClr val="578F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E77CD5-0CFB-F9CB-9EF9-B64C0A6D8D6C}"/>
                </a:ext>
              </a:extLst>
            </p:cNvPr>
            <p:cNvSpPr txBox="1"/>
            <p:nvPr/>
          </p:nvSpPr>
          <p:spPr>
            <a:xfrm>
              <a:off x="724189" y="626099"/>
              <a:ext cx="4512829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2.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Measure Trace 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구조 설계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5" name="제목 3">
            <a:extLst>
              <a:ext uri="{FF2B5EF4-FFF2-40B4-BE49-F238E27FC236}">
                <a16:creationId xmlns:a16="http://schemas.microsoft.com/office/drawing/2014/main" id="{DD7E5297-E32A-A396-8099-DA3FA7BC781A}"/>
              </a:ext>
            </a:extLst>
          </p:cNvPr>
          <p:cNvSpPr txBox="1">
            <a:spLocks/>
          </p:cNvSpPr>
          <p:nvPr/>
        </p:nvSpPr>
        <p:spPr>
          <a:xfrm>
            <a:off x="5170137" y="784223"/>
            <a:ext cx="6643174" cy="71120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2.1 [Scenario] 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재계산 기반 구축 단계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5B4CE50-A24B-1BE5-3914-55DA14659863}"/>
              </a:ext>
            </a:extLst>
          </p:cNvPr>
          <p:cNvSpPr/>
          <p:nvPr/>
        </p:nvSpPr>
        <p:spPr>
          <a:xfrm>
            <a:off x="724189" y="1447172"/>
            <a:ext cx="1621848" cy="351849"/>
          </a:xfrm>
          <a:prstGeom prst="roundRect">
            <a:avLst/>
          </a:prstGeom>
          <a:solidFill>
            <a:srgbClr val="E7F1FB"/>
          </a:solidFill>
          <a:ln w="19050">
            <a:solidFill>
              <a:srgbClr val="3F8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sz="1400" dirty="0">
              <a:solidFill>
                <a:srgbClr val="0D3F7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2794D15-0C8C-76B9-30DB-378F4BFE0175}"/>
              </a:ext>
            </a:extLst>
          </p:cNvPr>
          <p:cNvSpPr/>
          <p:nvPr/>
        </p:nvSpPr>
        <p:spPr>
          <a:xfrm>
            <a:off x="2558041" y="1447172"/>
            <a:ext cx="1621848" cy="351849"/>
          </a:xfrm>
          <a:prstGeom prst="roundRect">
            <a:avLst/>
          </a:prstGeom>
          <a:solidFill>
            <a:srgbClr val="EEEDFD"/>
          </a:solidFill>
          <a:ln w="19050">
            <a:solidFill>
              <a:srgbClr val="8D84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D247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</a:t>
            </a:r>
            <a:endParaRPr lang="ko-KR" altLang="en-US" sz="1400" dirty="0">
              <a:solidFill>
                <a:srgbClr val="2D247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DB5EBD8-D843-34C5-320A-A58BF4C799D0}"/>
              </a:ext>
            </a:extLst>
          </p:cNvPr>
          <p:cNvSpPr/>
          <p:nvPr/>
        </p:nvSpPr>
        <p:spPr>
          <a:xfrm>
            <a:off x="4391892" y="1447172"/>
            <a:ext cx="1621848" cy="351849"/>
          </a:xfrm>
          <a:prstGeom prst="roundRect">
            <a:avLst/>
          </a:prstGeom>
          <a:solidFill>
            <a:srgbClr val="E1F4EE"/>
          </a:solidFill>
          <a:ln w="19050">
            <a:solidFill>
              <a:srgbClr val="4BB1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0665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Confirm</a:t>
            </a:r>
            <a:endParaRPr lang="ko-KR" altLang="en-US" sz="1400" dirty="0">
              <a:solidFill>
                <a:srgbClr val="20665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2445648-A292-E24D-2C30-3865391FD196}"/>
              </a:ext>
            </a:extLst>
          </p:cNvPr>
          <p:cNvSpPr/>
          <p:nvPr/>
        </p:nvSpPr>
        <p:spPr>
          <a:xfrm>
            <a:off x="6225743" y="1447172"/>
            <a:ext cx="1621849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4296C00-0AE8-C205-4A05-873D4DE625B7}"/>
              </a:ext>
            </a:extLst>
          </p:cNvPr>
          <p:cNvSpPr/>
          <p:nvPr/>
        </p:nvSpPr>
        <p:spPr>
          <a:xfrm>
            <a:off x="8059596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Validate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FC04D9A-6A73-26B1-F873-F4981E6250CA}"/>
              </a:ext>
            </a:extLst>
          </p:cNvPr>
          <p:cNvSpPr/>
          <p:nvPr/>
        </p:nvSpPr>
        <p:spPr>
          <a:xfrm>
            <a:off x="9893447" y="1456408"/>
            <a:ext cx="1621849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Audit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C552DD1-B79F-849A-D136-FDEDD165AA5C}"/>
              </a:ext>
            </a:extLst>
          </p:cNvPr>
          <p:cNvSpPr/>
          <p:nvPr/>
        </p:nvSpPr>
        <p:spPr>
          <a:xfrm>
            <a:off x="780068" y="3613727"/>
            <a:ext cx="1621848" cy="563418"/>
          </a:xfrm>
          <a:prstGeom prst="roundRect">
            <a:avLst/>
          </a:prstGeom>
          <a:solidFill>
            <a:srgbClr val="E7F1FB"/>
          </a:solidFill>
          <a:ln w="19050">
            <a:solidFill>
              <a:srgbClr val="3F8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dirty="0">
              <a:solidFill>
                <a:srgbClr val="0D3F7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901AC9-0027-7139-02FB-C07B8373CC22}"/>
              </a:ext>
            </a:extLst>
          </p:cNvPr>
          <p:cNvSpPr txBox="1"/>
          <p:nvPr/>
        </p:nvSpPr>
        <p:spPr>
          <a:xfrm>
            <a:off x="725210" y="4257117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</a:t>
            </a:r>
            <a:r>
              <a:rPr lang="ko-KR" altLang="en-US" dirty="0" err="1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수집∙분류</a:t>
            </a:r>
            <a:endParaRPr lang="ko-KR" altLang="en-US" dirty="0">
              <a:solidFill>
                <a:srgbClr val="0D3F7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92A6D4F-B821-2BCD-FB9A-C5BD54A2D428}"/>
              </a:ext>
            </a:extLst>
          </p:cNvPr>
          <p:cNvGrpSpPr/>
          <p:nvPr/>
        </p:nvGrpSpPr>
        <p:grpSpPr>
          <a:xfrm>
            <a:off x="3436503" y="2562586"/>
            <a:ext cx="2119403" cy="1535855"/>
            <a:chOff x="3033233" y="2298029"/>
            <a:chExt cx="2547306" cy="1844102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6F200A61-438A-4CFF-1B4A-348A2734F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3466507" y="2298029"/>
              <a:ext cx="1662218" cy="1385181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E521E37-CE12-F7CD-7CD2-A61041F6AB55}"/>
                </a:ext>
              </a:extLst>
            </p:cNvPr>
            <p:cNvSpPr txBox="1"/>
            <p:nvPr/>
          </p:nvSpPr>
          <p:spPr>
            <a:xfrm>
              <a:off x="3033233" y="3735629"/>
              <a:ext cx="2547306" cy="406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가벼운 공 데이터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.xlsx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A679633-A665-0663-A03D-A15F6679D02F}"/>
              </a:ext>
            </a:extLst>
          </p:cNvPr>
          <p:cNvGrpSpPr/>
          <p:nvPr/>
        </p:nvGrpSpPr>
        <p:grpSpPr>
          <a:xfrm>
            <a:off x="3476260" y="4120553"/>
            <a:ext cx="2119403" cy="1501436"/>
            <a:chOff x="3104678" y="4109973"/>
            <a:chExt cx="2547306" cy="1802775"/>
          </a:xfrm>
        </p:grpSpPr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3F9ACA70-901E-D764-ACEA-9C3B88B0B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3466507" y="4109973"/>
              <a:ext cx="1662218" cy="1385181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870DB1A-4FAA-7C04-4BE6-8D08EC860995}"/>
                </a:ext>
              </a:extLst>
            </p:cNvPr>
            <p:cNvSpPr txBox="1"/>
            <p:nvPr/>
          </p:nvSpPr>
          <p:spPr>
            <a:xfrm>
              <a:off x="3104678" y="5506246"/>
              <a:ext cx="2547306" cy="406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무거운 공 데이터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.xlsx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AC4441D-D8E7-5AC2-F09F-FA598CD27707}"/>
              </a:ext>
            </a:extLst>
          </p:cNvPr>
          <p:cNvGrpSpPr/>
          <p:nvPr/>
        </p:nvGrpSpPr>
        <p:grpSpPr>
          <a:xfrm>
            <a:off x="8870520" y="3330352"/>
            <a:ext cx="1621848" cy="1536176"/>
            <a:chOff x="5898296" y="3043366"/>
            <a:chExt cx="1949296" cy="1844487"/>
          </a:xfrm>
        </p:grpSpPr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2D2213CB-5A87-91A1-19FD-C7EEA912D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6260385" y="3043366"/>
              <a:ext cx="1249847" cy="1479176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66C7B87-DBB4-2AC7-9074-8919DEC4FF27}"/>
                </a:ext>
              </a:extLst>
            </p:cNvPr>
            <p:cNvSpPr txBox="1"/>
            <p:nvPr/>
          </p:nvSpPr>
          <p:spPr>
            <a:xfrm>
              <a:off x="5898296" y="4549299"/>
              <a:ext cx="19492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장비 사양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.pdf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D871F61B-99E8-AFA2-11FA-47BDEE7D42CE}"/>
              </a:ext>
            </a:extLst>
          </p:cNvPr>
          <p:cNvGrpSpPr/>
          <p:nvPr/>
        </p:nvGrpSpPr>
        <p:grpSpPr>
          <a:xfrm>
            <a:off x="6040820" y="4217731"/>
            <a:ext cx="2030716" cy="1492198"/>
            <a:chOff x="8138172" y="2314718"/>
            <a:chExt cx="2440714" cy="1791683"/>
          </a:xfrm>
        </p:grpSpPr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D9F8B149-5971-69C1-91E9-83B237685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8641893" y="2314718"/>
              <a:ext cx="1468961" cy="1385181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0DB1815-5A29-9DF0-1E33-9E01277ED01F}"/>
                </a:ext>
              </a:extLst>
            </p:cNvPr>
            <p:cNvSpPr txBox="1"/>
            <p:nvPr/>
          </p:nvSpPr>
          <p:spPr>
            <a:xfrm>
              <a:off x="8138172" y="3699899"/>
              <a:ext cx="2440714" cy="406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실험 계획서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.docx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E56377F2-1B59-1191-F2D2-90510F1390B2}"/>
              </a:ext>
            </a:extLst>
          </p:cNvPr>
          <p:cNvGrpSpPr/>
          <p:nvPr/>
        </p:nvGrpSpPr>
        <p:grpSpPr>
          <a:xfrm>
            <a:off x="6245254" y="2662833"/>
            <a:ext cx="1621848" cy="1435608"/>
            <a:chOff x="8401724" y="4109973"/>
            <a:chExt cx="1949296" cy="1723735"/>
          </a:xfrm>
        </p:grpSpPr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CC7A88EF-96C9-4A0D-1E07-80A9B3C461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8641892" y="4109973"/>
              <a:ext cx="1468961" cy="138518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1E59C02-71B3-3212-9311-C60CF89BBC97}"/>
                </a:ext>
              </a:extLst>
            </p:cNvPr>
            <p:cNvSpPr txBox="1"/>
            <p:nvPr/>
          </p:nvSpPr>
          <p:spPr>
            <a:xfrm>
              <a:off x="8401724" y="5495154"/>
              <a:ext cx="19492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논문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.docx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58FADFBF-2749-CE08-DB9C-C44A4B53C39A}"/>
              </a:ext>
            </a:extLst>
          </p:cNvPr>
          <p:cNvSpPr/>
          <p:nvPr/>
        </p:nvSpPr>
        <p:spPr>
          <a:xfrm>
            <a:off x="3357708" y="2383266"/>
            <a:ext cx="2180936" cy="346084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2D64E424-09D5-F263-F375-7A7D79EA2402}"/>
              </a:ext>
            </a:extLst>
          </p:cNvPr>
          <p:cNvSpPr/>
          <p:nvPr/>
        </p:nvSpPr>
        <p:spPr>
          <a:xfrm>
            <a:off x="5974342" y="2393395"/>
            <a:ext cx="2180936" cy="346084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DDE9100B-0B4C-AFD6-F4AF-DDE6759BD5BC}"/>
              </a:ext>
            </a:extLst>
          </p:cNvPr>
          <p:cNvSpPr/>
          <p:nvPr/>
        </p:nvSpPr>
        <p:spPr>
          <a:xfrm>
            <a:off x="8590976" y="3029527"/>
            <a:ext cx="2180936" cy="202945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FDA2D7-20ED-C9DB-DB77-94DB0E798A29}"/>
              </a:ext>
            </a:extLst>
          </p:cNvPr>
          <p:cNvSpPr txBox="1"/>
          <p:nvPr/>
        </p:nvSpPr>
        <p:spPr>
          <a:xfrm>
            <a:off x="3998163" y="2236339"/>
            <a:ext cx="9412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effectLst>
                  <a:glow rad="330200">
                    <a:schemeClr val="bg1">
                      <a:lumMod val="95000"/>
                    </a:scheme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엑셀 파일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561DDB0-4CC6-39F0-8C91-749B40CDBF88}"/>
              </a:ext>
            </a:extLst>
          </p:cNvPr>
          <p:cNvSpPr txBox="1"/>
          <p:nvPr/>
        </p:nvSpPr>
        <p:spPr>
          <a:xfrm>
            <a:off x="6585536" y="2232026"/>
            <a:ext cx="9412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effectLst>
                  <a:glow rad="330200">
                    <a:schemeClr val="bg1">
                      <a:lumMod val="95000"/>
                    </a:scheme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워드 파일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3605C85-FA75-4F6F-3B0B-0611F2152003}"/>
              </a:ext>
            </a:extLst>
          </p:cNvPr>
          <p:cNvSpPr txBox="1"/>
          <p:nvPr/>
        </p:nvSpPr>
        <p:spPr>
          <a:xfrm>
            <a:off x="9205059" y="2860250"/>
            <a:ext cx="9733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effectLst>
                  <a:glow rad="330200">
                    <a:schemeClr val="bg1">
                      <a:lumMod val="95000"/>
                    </a:scheme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PDF </a:t>
            </a:r>
            <a:r>
              <a:rPr lang="ko-KR" altLang="en-US" sz="1600" dirty="0">
                <a:effectLst>
                  <a:glow rad="330200">
                    <a:schemeClr val="bg1">
                      <a:lumMod val="95000"/>
                    </a:scheme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7BDE6BC-9E11-567D-D226-702CDE45BB77}"/>
              </a:ext>
            </a:extLst>
          </p:cNvPr>
          <p:cNvSpPr/>
          <p:nvPr/>
        </p:nvSpPr>
        <p:spPr>
          <a:xfrm>
            <a:off x="2660079" y="1851413"/>
            <a:ext cx="8857664" cy="4463612"/>
          </a:xfrm>
          <a:prstGeom prst="rect">
            <a:avLst/>
          </a:prstGeom>
          <a:solidFill>
            <a:schemeClr val="bg2">
              <a:lumMod val="25000"/>
              <a:alpha val="55686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C5E1AE-CA4D-9AAA-1E1A-77D27A64BE83}"/>
              </a:ext>
            </a:extLst>
          </p:cNvPr>
          <p:cNvSpPr txBox="1"/>
          <p:nvPr/>
        </p:nvSpPr>
        <p:spPr>
          <a:xfrm>
            <a:off x="6251634" y="3836187"/>
            <a:ext cx="3637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effectLst>
                  <a:glow rad="101600">
                    <a:srgbClr val="FFFF00">
                      <a:alpha val="60000"/>
                    </a:srgb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각 파일에 대한 해시 생성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272B6AC-9012-18F2-B537-B0E28BAFF8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811" y="3489360"/>
            <a:ext cx="1375570" cy="137557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6944202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B8514-BAB7-EBC5-C451-06C8A13A8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573357AA-61FB-53D0-B87E-D65B67A06E49}"/>
              </a:ext>
            </a:extLst>
          </p:cNvPr>
          <p:cNvGrpSpPr/>
          <p:nvPr/>
        </p:nvGrpSpPr>
        <p:grpSpPr>
          <a:xfrm>
            <a:off x="724189" y="626099"/>
            <a:ext cx="4512829" cy="676532"/>
            <a:chOff x="724189" y="626099"/>
            <a:chExt cx="4512829" cy="6765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AB8CA54-41DE-B9E3-DED3-8899FD3E2763}"/>
                </a:ext>
              </a:extLst>
            </p:cNvPr>
            <p:cNvSpPr/>
            <p:nvPr/>
          </p:nvSpPr>
          <p:spPr>
            <a:xfrm>
              <a:off x="733425" y="784223"/>
              <a:ext cx="4418238" cy="504825"/>
            </a:xfrm>
            <a:prstGeom prst="rect">
              <a:avLst/>
            </a:prstGeom>
            <a:solidFill>
              <a:srgbClr val="578F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C7B1A54-A72D-EC84-8A09-D6FE9BB536D0}"/>
                </a:ext>
              </a:extLst>
            </p:cNvPr>
            <p:cNvSpPr txBox="1"/>
            <p:nvPr/>
          </p:nvSpPr>
          <p:spPr>
            <a:xfrm>
              <a:off x="724189" y="626099"/>
              <a:ext cx="4512829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2.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Measure Trace 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구조 설계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5" name="제목 3">
            <a:extLst>
              <a:ext uri="{FF2B5EF4-FFF2-40B4-BE49-F238E27FC236}">
                <a16:creationId xmlns:a16="http://schemas.microsoft.com/office/drawing/2014/main" id="{CB508AA8-3A3C-1853-E548-C856B03A1C98}"/>
              </a:ext>
            </a:extLst>
          </p:cNvPr>
          <p:cNvSpPr txBox="1">
            <a:spLocks/>
          </p:cNvSpPr>
          <p:nvPr/>
        </p:nvSpPr>
        <p:spPr>
          <a:xfrm>
            <a:off x="5170137" y="784223"/>
            <a:ext cx="6643174" cy="71120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2.1 [Scenario] 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재계산 기반 구축 단계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E2DFC4A-8000-A80F-FD52-FBA29A0D9C6F}"/>
              </a:ext>
            </a:extLst>
          </p:cNvPr>
          <p:cNvSpPr/>
          <p:nvPr/>
        </p:nvSpPr>
        <p:spPr>
          <a:xfrm>
            <a:off x="724189" y="1447172"/>
            <a:ext cx="1621848" cy="351849"/>
          </a:xfrm>
          <a:prstGeom prst="roundRect">
            <a:avLst/>
          </a:prstGeom>
          <a:solidFill>
            <a:srgbClr val="E7F1FB"/>
          </a:solidFill>
          <a:ln w="19050">
            <a:solidFill>
              <a:srgbClr val="3F8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sz="1400" dirty="0">
              <a:solidFill>
                <a:srgbClr val="0D3F7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215174C-9157-996C-B05F-981EF3394190}"/>
              </a:ext>
            </a:extLst>
          </p:cNvPr>
          <p:cNvSpPr/>
          <p:nvPr/>
        </p:nvSpPr>
        <p:spPr>
          <a:xfrm>
            <a:off x="2558041" y="1447172"/>
            <a:ext cx="1621848" cy="351849"/>
          </a:xfrm>
          <a:prstGeom prst="roundRect">
            <a:avLst/>
          </a:prstGeom>
          <a:solidFill>
            <a:srgbClr val="EEEDFD"/>
          </a:solidFill>
          <a:ln w="19050">
            <a:solidFill>
              <a:srgbClr val="8D84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D247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</a:t>
            </a:r>
            <a:endParaRPr lang="ko-KR" altLang="en-US" sz="1400" dirty="0">
              <a:solidFill>
                <a:srgbClr val="2D247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171A4AA-F528-C36E-4178-023C5B0A42F6}"/>
              </a:ext>
            </a:extLst>
          </p:cNvPr>
          <p:cNvSpPr/>
          <p:nvPr/>
        </p:nvSpPr>
        <p:spPr>
          <a:xfrm>
            <a:off x="4391892" y="1447172"/>
            <a:ext cx="1621848" cy="351849"/>
          </a:xfrm>
          <a:prstGeom prst="roundRect">
            <a:avLst/>
          </a:prstGeom>
          <a:solidFill>
            <a:srgbClr val="E1F4EE"/>
          </a:solidFill>
          <a:ln w="19050">
            <a:solidFill>
              <a:srgbClr val="4BB1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0665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Confirm</a:t>
            </a:r>
            <a:endParaRPr lang="ko-KR" altLang="en-US" sz="1400" dirty="0">
              <a:solidFill>
                <a:srgbClr val="20665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EB1A50A-8945-10B6-9303-7B336FE1469B}"/>
              </a:ext>
            </a:extLst>
          </p:cNvPr>
          <p:cNvSpPr/>
          <p:nvPr/>
        </p:nvSpPr>
        <p:spPr>
          <a:xfrm>
            <a:off x="6225743" y="1447172"/>
            <a:ext cx="1621849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2F2C2CB-0AB8-3CB0-0D9E-A12F233A329A}"/>
              </a:ext>
            </a:extLst>
          </p:cNvPr>
          <p:cNvSpPr/>
          <p:nvPr/>
        </p:nvSpPr>
        <p:spPr>
          <a:xfrm>
            <a:off x="8059596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Validate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0B74D44-0C59-8348-9A1A-154F5F7AE97E}"/>
              </a:ext>
            </a:extLst>
          </p:cNvPr>
          <p:cNvSpPr/>
          <p:nvPr/>
        </p:nvSpPr>
        <p:spPr>
          <a:xfrm>
            <a:off x="9893447" y="1456408"/>
            <a:ext cx="1621849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Audit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6E70778-BE90-C33B-C302-06A9DA918EC1}"/>
              </a:ext>
            </a:extLst>
          </p:cNvPr>
          <p:cNvSpPr/>
          <p:nvPr/>
        </p:nvSpPr>
        <p:spPr>
          <a:xfrm>
            <a:off x="780068" y="3611878"/>
            <a:ext cx="1621848" cy="563418"/>
          </a:xfrm>
          <a:prstGeom prst="roundRect">
            <a:avLst/>
          </a:prstGeom>
          <a:solidFill>
            <a:srgbClr val="EEEDFD"/>
          </a:solidFill>
          <a:ln w="19050">
            <a:solidFill>
              <a:srgbClr val="8D84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2D247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</a:t>
            </a:r>
            <a:endParaRPr lang="ko-KR" altLang="en-US" dirty="0">
              <a:solidFill>
                <a:srgbClr val="2D247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0FED1D-8801-4F82-E53A-8F016A43667B}"/>
              </a:ext>
            </a:extLst>
          </p:cNvPr>
          <p:cNvSpPr txBox="1"/>
          <p:nvPr/>
        </p:nvSpPr>
        <p:spPr>
          <a:xfrm>
            <a:off x="622914" y="4257117"/>
            <a:ext cx="1947969" cy="74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38308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재계산에 필요한</a:t>
            </a:r>
            <a:endParaRPr lang="en-US" altLang="ko-KR" dirty="0">
              <a:solidFill>
                <a:srgbClr val="38308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38308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정보 및 데이터 추출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CA5E8B7-D929-EFDE-B49C-3B83B31C54C9}"/>
              </a:ext>
            </a:extLst>
          </p:cNvPr>
          <p:cNvGrpSpPr/>
          <p:nvPr/>
        </p:nvGrpSpPr>
        <p:grpSpPr>
          <a:xfrm>
            <a:off x="2942544" y="2174704"/>
            <a:ext cx="2133024" cy="1315949"/>
            <a:chOff x="2692627" y="2298029"/>
            <a:chExt cx="3209979" cy="1978070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EFE080B-F3A6-93AF-6851-0414499F5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3466507" y="2298029"/>
              <a:ext cx="1662218" cy="138518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03758A2-2485-DEDA-F6CD-C52C8EFF4BF7}"/>
                </a:ext>
              </a:extLst>
            </p:cNvPr>
            <p:cNvSpPr txBox="1"/>
            <p:nvPr/>
          </p:nvSpPr>
          <p:spPr>
            <a:xfrm>
              <a:off x="2692627" y="3767201"/>
              <a:ext cx="3209979" cy="508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가벼운 공 데이터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.xlsx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905B4CB-7771-C73B-EB73-C80FB07FC998}"/>
              </a:ext>
            </a:extLst>
          </p:cNvPr>
          <p:cNvGrpSpPr/>
          <p:nvPr/>
        </p:nvGrpSpPr>
        <p:grpSpPr>
          <a:xfrm>
            <a:off x="2942544" y="3535925"/>
            <a:ext cx="2133024" cy="1287341"/>
            <a:chOff x="2687561" y="4109973"/>
            <a:chExt cx="3209979" cy="1935069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245855B1-8B62-BDFA-9961-FFAA10E5A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3466507" y="4109973"/>
              <a:ext cx="1662218" cy="1385181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4A0DF3B-335B-906D-C362-1FA7C5706FF1}"/>
                </a:ext>
              </a:extLst>
            </p:cNvPr>
            <p:cNvSpPr txBox="1"/>
            <p:nvPr/>
          </p:nvSpPr>
          <p:spPr>
            <a:xfrm>
              <a:off x="2687561" y="5536144"/>
              <a:ext cx="3209979" cy="508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무거운 공 데이터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.xlsx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AA592C9-26D2-FCE6-F54A-47BFFC1B761E}"/>
              </a:ext>
            </a:extLst>
          </p:cNvPr>
          <p:cNvGrpSpPr/>
          <p:nvPr/>
        </p:nvGrpSpPr>
        <p:grpSpPr>
          <a:xfrm>
            <a:off x="3198132" y="4850535"/>
            <a:ext cx="1621848" cy="1191951"/>
            <a:chOff x="8138172" y="2314718"/>
            <a:chExt cx="2440714" cy="1791683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0E332031-223F-451A-DD60-222C9D46A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8641893" y="2314718"/>
              <a:ext cx="1468961" cy="1385181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03E30F0-1B6E-0659-7157-218BC215840F}"/>
                </a:ext>
              </a:extLst>
            </p:cNvPr>
            <p:cNvSpPr txBox="1"/>
            <p:nvPr/>
          </p:nvSpPr>
          <p:spPr>
            <a:xfrm>
              <a:off x="8138172" y="3699899"/>
              <a:ext cx="2440714" cy="406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실험 계획서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.docx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36" name="화살표: 아래쪽 35">
            <a:extLst>
              <a:ext uri="{FF2B5EF4-FFF2-40B4-BE49-F238E27FC236}">
                <a16:creationId xmlns:a16="http://schemas.microsoft.com/office/drawing/2014/main" id="{67EBE3B8-7B96-2D0D-00F5-6CD29BD494BC}"/>
              </a:ext>
            </a:extLst>
          </p:cNvPr>
          <p:cNvSpPr/>
          <p:nvPr/>
        </p:nvSpPr>
        <p:spPr>
          <a:xfrm rot="16200000">
            <a:off x="5430791" y="3784330"/>
            <a:ext cx="500942" cy="664957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glow rad="1778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D4324FDA-DD0C-3BCA-AA9B-335DE1FD7D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605" y="2296609"/>
            <a:ext cx="953014" cy="91329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EB3F35C-00A3-2E15-877C-070D85127F1A}"/>
              </a:ext>
            </a:extLst>
          </p:cNvPr>
          <p:cNvSpPr txBox="1"/>
          <p:nvPr/>
        </p:nvSpPr>
        <p:spPr>
          <a:xfrm>
            <a:off x="7681376" y="2558429"/>
            <a:ext cx="3069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Measure Trace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데이터 추출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C02490-4F10-A3A7-A9FD-BEE63F73CF90}"/>
              </a:ext>
            </a:extLst>
          </p:cNvPr>
          <p:cNvSpPr txBox="1"/>
          <p:nvPr/>
        </p:nvSpPr>
        <p:spPr>
          <a:xfrm>
            <a:off x="6797832" y="3209904"/>
            <a:ext cx="4131259" cy="1714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①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파일은 이 데이터를 담고 있구나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!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②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실험에서는 이러한 수식을 사용하구나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!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③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실험에 이 데이터를 사용하였구나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!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④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중 누락된 단위가 있구나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!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145C840-FBE4-3C86-8AC1-8BA5C90D7DF2}"/>
              </a:ext>
            </a:extLst>
          </p:cNvPr>
          <p:cNvSpPr txBox="1"/>
          <p:nvPr/>
        </p:nvSpPr>
        <p:spPr>
          <a:xfrm>
            <a:off x="8737465" y="4969545"/>
            <a:ext cx="2519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8839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08634-36BC-6638-4B23-DAC9518C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B0E8C91D-231D-B078-7E14-EA1AD08020FF}"/>
              </a:ext>
            </a:extLst>
          </p:cNvPr>
          <p:cNvGrpSpPr/>
          <p:nvPr/>
        </p:nvGrpSpPr>
        <p:grpSpPr>
          <a:xfrm>
            <a:off x="724189" y="626099"/>
            <a:ext cx="4512829" cy="676532"/>
            <a:chOff x="724189" y="626099"/>
            <a:chExt cx="4512829" cy="6765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304C293-9FF3-E270-D0B6-6AE3A364CE78}"/>
                </a:ext>
              </a:extLst>
            </p:cNvPr>
            <p:cNvSpPr/>
            <p:nvPr/>
          </p:nvSpPr>
          <p:spPr>
            <a:xfrm>
              <a:off x="733425" y="784223"/>
              <a:ext cx="4418238" cy="504825"/>
            </a:xfrm>
            <a:prstGeom prst="rect">
              <a:avLst/>
            </a:prstGeom>
            <a:solidFill>
              <a:srgbClr val="578F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8525291-C1C7-39CB-4FB8-769BAA11F430}"/>
                </a:ext>
              </a:extLst>
            </p:cNvPr>
            <p:cNvSpPr txBox="1"/>
            <p:nvPr/>
          </p:nvSpPr>
          <p:spPr>
            <a:xfrm>
              <a:off x="724189" y="626099"/>
              <a:ext cx="4512829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2.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Measure Trace 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구조 설계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5" name="제목 3">
            <a:extLst>
              <a:ext uri="{FF2B5EF4-FFF2-40B4-BE49-F238E27FC236}">
                <a16:creationId xmlns:a16="http://schemas.microsoft.com/office/drawing/2014/main" id="{F964947E-DE2F-1924-F543-0C8D468640CC}"/>
              </a:ext>
            </a:extLst>
          </p:cNvPr>
          <p:cNvSpPr txBox="1">
            <a:spLocks/>
          </p:cNvSpPr>
          <p:nvPr/>
        </p:nvSpPr>
        <p:spPr>
          <a:xfrm>
            <a:off x="5170137" y="784223"/>
            <a:ext cx="6643174" cy="71120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2.1 [Scenario] 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재계산 기반 구축 단계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ED856DA-7236-762D-FF8B-6CCBEEA20370}"/>
              </a:ext>
            </a:extLst>
          </p:cNvPr>
          <p:cNvSpPr/>
          <p:nvPr/>
        </p:nvSpPr>
        <p:spPr>
          <a:xfrm>
            <a:off x="724189" y="1447172"/>
            <a:ext cx="1621848" cy="351849"/>
          </a:xfrm>
          <a:prstGeom prst="roundRect">
            <a:avLst/>
          </a:prstGeom>
          <a:solidFill>
            <a:srgbClr val="E7F1FB"/>
          </a:solidFill>
          <a:ln w="19050">
            <a:solidFill>
              <a:srgbClr val="3F8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sz="1400" dirty="0">
              <a:solidFill>
                <a:srgbClr val="0D3F7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126C2DB-015E-1860-D54D-B99091835213}"/>
              </a:ext>
            </a:extLst>
          </p:cNvPr>
          <p:cNvSpPr/>
          <p:nvPr/>
        </p:nvSpPr>
        <p:spPr>
          <a:xfrm>
            <a:off x="2558041" y="1447172"/>
            <a:ext cx="1621848" cy="351849"/>
          </a:xfrm>
          <a:prstGeom prst="roundRect">
            <a:avLst/>
          </a:prstGeom>
          <a:solidFill>
            <a:srgbClr val="EEEDFD"/>
          </a:solidFill>
          <a:ln w="19050">
            <a:solidFill>
              <a:srgbClr val="8D84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D247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</a:t>
            </a:r>
            <a:endParaRPr lang="ko-KR" altLang="en-US" sz="1400" dirty="0">
              <a:solidFill>
                <a:srgbClr val="2D247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76DC477-E01C-EF64-2FD3-4ECD4800F264}"/>
              </a:ext>
            </a:extLst>
          </p:cNvPr>
          <p:cNvSpPr/>
          <p:nvPr/>
        </p:nvSpPr>
        <p:spPr>
          <a:xfrm>
            <a:off x="4391892" y="1447172"/>
            <a:ext cx="1621848" cy="351849"/>
          </a:xfrm>
          <a:prstGeom prst="roundRect">
            <a:avLst/>
          </a:prstGeom>
          <a:solidFill>
            <a:srgbClr val="E1F4EE"/>
          </a:solidFill>
          <a:ln w="19050">
            <a:solidFill>
              <a:srgbClr val="4BB1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0665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Confirm</a:t>
            </a:r>
            <a:endParaRPr lang="ko-KR" altLang="en-US" sz="1400" dirty="0">
              <a:solidFill>
                <a:srgbClr val="20665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19D5993-80D1-92E9-2DFA-CA8BCCA1868B}"/>
              </a:ext>
            </a:extLst>
          </p:cNvPr>
          <p:cNvSpPr/>
          <p:nvPr/>
        </p:nvSpPr>
        <p:spPr>
          <a:xfrm>
            <a:off x="6225743" y="1447172"/>
            <a:ext cx="1621849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5645437-7491-4738-7D76-03F4B8086E74}"/>
              </a:ext>
            </a:extLst>
          </p:cNvPr>
          <p:cNvSpPr/>
          <p:nvPr/>
        </p:nvSpPr>
        <p:spPr>
          <a:xfrm>
            <a:off x="8059596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Validate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4B598F6-74AB-0C0A-E80B-9E8A3D85068F}"/>
              </a:ext>
            </a:extLst>
          </p:cNvPr>
          <p:cNvSpPr/>
          <p:nvPr/>
        </p:nvSpPr>
        <p:spPr>
          <a:xfrm>
            <a:off x="9893447" y="1456408"/>
            <a:ext cx="1621849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Audit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FA33453-4CC8-4F30-62D1-BB73B6CDE00A}"/>
              </a:ext>
            </a:extLst>
          </p:cNvPr>
          <p:cNvSpPr/>
          <p:nvPr/>
        </p:nvSpPr>
        <p:spPr>
          <a:xfrm>
            <a:off x="780068" y="3611878"/>
            <a:ext cx="1621848" cy="563418"/>
          </a:xfrm>
          <a:prstGeom prst="roundRect">
            <a:avLst/>
          </a:prstGeom>
          <a:solidFill>
            <a:srgbClr val="EEEDFD"/>
          </a:solidFill>
          <a:ln w="19050">
            <a:solidFill>
              <a:srgbClr val="8D84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2D247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</a:t>
            </a:r>
            <a:endParaRPr lang="ko-KR" altLang="en-US" dirty="0">
              <a:solidFill>
                <a:srgbClr val="2D247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030FFB-C050-E969-E35C-7A0B5A3EF844}"/>
              </a:ext>
            </a:extLst>
          </p:cNvPr>
          <p:cNvSpPr txBox="1"/>
          <p:nvPr/>
        </p:nvSpPr>
        <p:spPr>
          <a:xfrm>
            <a:off x="622914" y="4257117"/>
            <a:ext cx="1947969" cy="74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38308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재계산에 필요한</a:t>
            </a:r>
            <a:endParaRPr lang="en-US" altLang="ko-KR" dirty="0">
              <a:solidFill>
                <a:srgbClr val="38308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38308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정보 및 데이터 추출</a:t>
            </a:r>
          </a:p>
        </p:txBody>
      </p:sp>
      <p:sp>
        <p:nvSpPr>
          <p:cNvPr id="36" name="화살표: 아래쪽 35">
            <a:extLst>
              <a:ext uri="{FF2B5EF4-FFF2-40B4-BE49-F238E27FC236}">
                <a16:creationId xmlns:a16="http://schemas.microsoft.com/office/drawing/2014/main" id="{486E2ED7-63BF-A5FA-4580-A9F28037FFFD}"/>
              </a:ext>
            </a:extLst>
          </p:cNvPr>
          <p:cNvSpPr/>
          <p:nvPr/>
        </p:nvSpPr>
        <p:spPr>
          <a:xfrm rot="16200000">
            <a:off x="5430791" y="3784330"/>
            <a:ext cx="500942" cy="664957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glow rad="1778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4B51725D-257A-6C12-1C79-5425DBF53A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462" y="2902130"/>
            <a:ext cx="953014" cy="91329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C503FA3-9245-1A38-8DCA-95FDD200D562}"/>
              </a:ext>
            </a:extLst>
          </p:cNvPr>
          <p:cNvSpPr txBox="1"/>
          <p:nvPr/>
        </p:nvSpPr>
        <p:spPr>
          <a:xfrm>
            <a:off x="7651233" y="3163950"/>
            <a:ext cx="3326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Measure Trace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장비 사양 추출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40ADF2-5612-A77D-9D87-94A0448648C2}"/>
              </a:ext>
            </a:extLst>
          </p:cNvPr>
          <p:cNvSpPr txBox="1"/>
          <p:nvPr/>
        </p:nvSpPr>
        <p:spPr>
          <a:xfrm>
            <a:off x="6767689" y="3815425"/>
            <a:ext cx="4047903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①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기기는 이 정도 사양을 가지고 있구나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!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②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기기의 오차 범위는 이정도구나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!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3B3C16-956D-039D-CC0C-117CEACFBD70}"/>
              </a:ext>
            </a:extLst>
          </p:cNvPr>
          <p:cNvSpPr txBox="1"/>
          <p:nvPr/>
        </p:nvSpPr>
        <p:spPr>
          <a:xfrm>
            <a:off x="8714381" y="4688773"/>
            <a:ext cx="2519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3368E75-F566-101B-8445-5ABFDFAB85FC}"/>
              </a:ext>
            </a:extLst>
          </p:cNvPr>
          <p:cNvGrpSpPr/>
          <p:nvPr/>
        </p:nvGrpSpPr>
        <p:grpSpPr>
          <a:xfrm>
            <a:off x="3008770" y="3429000"/>
            <a:ext cx="1947968" cy="1315948"/>
            <a:chOff x="5359166" y="3043366"/>
            <a:chExt cx="3052284" cy="2118989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753043E0-5EF0-F631-D876-A03EA8987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6260385" y="3043366"/>
              <a:ext cx="1249847" cy="147917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A480357-B935-8158-B976-FF1D267062BB}"/>
                </a:ext>
              </a:extLst>
            </p:cNvPr>
            <p:cNvSpPr txBox="1"/>
            <p:nvPr/>
          </p:nvSpPr>
          <p:spPr>
            <a:xfrm>
              <a:off x="5359166" y="4564546"/>
              <a:ext cx="3052284" cy="5978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장비 사양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.pdf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3773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82458-B584-6835-5739-1D25197FD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127AE2B2-ABD2-4DC6-B84A-E8200860AE12}"/>
              </a:ext>
            </a:extLst>
          </p:cNvPr>
          <p:cNvGrpSpPr/>
          <p:nvPr/>
        </p:nvGrpSpPr>
        <p:grpSpPr>
          <a:xfrm>
            <a:off x="724189" y="626099"/>
            <a:ext cx="4512829" cy="676532"/>
            <a:chOff x="724189" y="626099"/>
            <a:chExt cx="4512829" cy="6765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824D773-08B7-A955-D4F4-4A047113883D}"/>
                </a:ext>
              </a:extLst>
            </p:cNvPr>
            <p:cNvSpPr/>
            <p:nvPr/>
          </p:nvSpPr>
          <p:spPr>
            <a:xfrm>
              <a:off x="733425" y="784223"/>
              <a:ext cx="4418238" cy="504825"/>
            </a:xfrm>
            <a:prstGeom prst="rect">
              <a:avLst/>
            </a:prstGeom>
            <a:solidFill>
              <a:srgbClr val="578F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622BE77-C457-9408-CF76-6BDC050AE804}"/>
                </a:ext>
              </a:extLst>
            </p:cNvPr>
            <p:cNvSpPr txBox="1"/>
            <p:nvPr/>
          </p:nvSpPr>
          <p:spPr>
            <a:xfrm>
              <a:off x="724189" y="626099"/>
              <a:ext cx="4512829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2.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Measure Trace 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구조 설계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5" name="제목 3">
            <a:extLst>
              <a:ext uri="{FF2B5EF4-FFF2-40B4-BE49-F238E27FC236}">
                <a16:creationId xmlns:a16="http://schemas.microsoft.com/office/drawing/2014/main" id="{546A402F-3E46-3168-B53C-E18AF2817963}"/>
              </a:ext>
            </a:extLst>
          </p:cNvPr>
          <p:cNvSpPr txBox="1">
            <a:spLocks/>
          </p:cNvSpPr>
          <p:nvPr/>
        </p:nvSpPr>
        <p:spPr>
          <a:xfrm>
            <a:off x="5170137" y="784223"/>
            <a:ext cx="6643174" cy="71120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2.1 [Scenario] 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재계산 기반 구축 단계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3FB2A9B-4BBC-8BCC-375A-48B9F03D69A3}"/>
              </a:ext>
            </a:extLst>
          </p:cNvPr>
          <p:cNvSpPr/>
          <p:nvPr/>
        </p:nvSpPr>
        <p:spPr>
          <a:xfrm>
            <a:off x="724189" y="1447172"/>
            <a:ext cx="1621848" cy="351849"/>
          </a:xfrm>
          <a:prstGeom prst="roundRect">
            <a:avLst/>
          </a:prstGeom>
          <a:solidFill>
            <a:srgbClr val="E7F1FB"/>
          </a:solidFill>
          <a:ln w="19050">
            <a:solidFill>
              <a:srgbClr val="3F8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sz="1400" dirty="0">
              <a:solidFill>
                <a:srgbClr val="0D3F7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E13FA4E-A129-E489-0729-3EB9D706F0C0}"/>
              </a:ext>
            </a:extLst>
          </p:cNvPr>
          <p:cNvSpPr/>
          <p:nvPr/>
        </p:nvSpPr>
        <p:spPr>
          <a:xfrm>
            <a:off x="2558041" y="1447172"/>
            <a:ext cx="1621848" cy="351849"/>
          </a:xfrm>
          <a:prstGeom prst="roundRect">
            <a:avLst/>
          </a:prstGeom>
          <a:solidFill>
            <a:srgbClr val="EEEDFD"/>
          </a:solidFill>
          <a:ln w="19050">
            <a:solidFill>
              <a:srgbClr val="8D84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D247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</a:t>
            </a:r>
            <a:endParaRPr lang="ko-KR" altLang="en-US" sz="1400" dirty="0">
              <a:solidFill>
                <a:srgbClr val="2D247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03E814C-4461-4539-36E9-34E6DC20A7F3}"/>
              </a:ext>
            </a:extLst>
          </p:cNvPr>
          <p:cNvSpPr/>
          <p:nvPr/>
        </p:nvSpPr>
        <p:spPr>
          <a:xfrm>
            <a:off x="4391892" y="1447172"/>
            <a:ext cx="1621848" cy="351849"/>
          </a:xfrm>
          <a:prstGeom prst="roundRect">
            <a:avLst/>
          </a:prstGeom>
          <a:solidFill>
            <a:srgbClr val="E1F4EE"/>
          </a:solidFill>
          <a:ln w="19050">
            <a:solidFill>
              <a:srgbClr val="4BB1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0665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Confirm</a:t>
            </a:r>
            <a:endParaRPr lang="ko-KR" altLang="en-US" sz="1400" dirty="0">
              <a:solidFill>
                <a:srgbClr val="20665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755567F-50FC-2D33-0806-CB5BEA56236C}"/>
              </a:ext>
            </a:extLst>
          </p:cNvPr>
          <p:cNvSpPr/>
          <p:nvPr/>
        </p:nvSpPr>
        <p:spPr>
          <a:xfrm>
            <a:off x="6225743" y="1447172"/>
            <a:ext cx="1621849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53DCED3-2354-0B2E-4DEE-4679C5DBC7E8}"/>
              </a:ext>
            </a:extLst>
          </p:cNvPr>
          <p:cNvSpPr/>
          <p:nvPr/>
        </p:nvSpPr>
        <p:spPr>
          <a:xfrm>
            <a:off x="8059596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Validate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B9CB749-86B6-95AD-34F9-E64A509815F4}"/>
              </a:ext>
            </a:extLst>
          </p:cNvPr>
          <p:cNvSpPr/>
          <p:nvPr/>
        </p:nvSpPr>
        <p:spPr>
          <a:xfrm>
            <a:off x="9893447" y="1456408"/>
            <a:ext cx="1621849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Audit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EAE47A1-FCD3-983C-2047-F22C8DD77196}"/>
              </a:ext>
            </a:extLst>
          </p:cNvPr>
          <p:cNvSpPr/>
          <p:nvPr/>
        </p:nvSpPr>
        <p:spPr>
          <a:xfrm>
            <a:off x="780068" y="3611878"/>
            <a:ext cx="1621848" cy="563418"/>
          </a:xfrm>
          <a:prstGeom prst="roundRect">
            <a:avLst/>
          </a:prstGeom>
          <a:solidFill>
            <a:srgbClr val="E1F4EE"/>
          </a:solidFill>
          <a:ln w="19050">
            <a:solidFill>
              <a:srgbClr val="4BB1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20665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Confirm</a:t>
            </a:r>
            <a:endParaRPr lang="ko-KR" altLang="en-US" dirty="0">
              <a:solidFill>
                <a:srgbClr val="20665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0C2390-545A-2A5B-C774-AC95504F6700}"/>
              </a:ext>
            </a:extLst>
          </p:cNvPr>
          <p:cNvSpPr txBox="1"/>
          <p:nvPr/>
        </p:nvSpPr>
        <p:spPr>
          <a:xfrm>
            <a:off x="745247" y="4161674"/>
            <a:ext cx="1691489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20665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진행상황 중간</a:t>
            </a:r>
            <a:endParaRPr lang="en-US" altLang="ko-KR" dirty="0">
              <a:solidFill>
                <a:srgbClr val="20665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20665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승인 단계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B3061AE-A655-5B43-A75A-58D124062F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7"/>
          <a:stretch>
            <a:fillRect/>
          </a:stretch>
        </p:blipFill>
        <p:spPr>
          <a:xfrm>
            <a:off x="3498707" y="3149254"/>
            <a:ext cx="2727036" cy="1324470"/>
          </a:xfrm>
          <a:prstGeom prst="rect">
            <a:avLst/>
          </a:prstGeom>
          <a:effectLst>
            <a:glow rad="457200">
              <a:srgbClr val="FFFF00">
                <a:alpha val="49000"/>
              </a:srgbClr>
            </a:glow>
          </a:effectLst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F511C198-05C1-4743-3F65-A013EBFA5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8707" y="4992474"/>
            <a:ext cx="2727036" cy="967658"/>
          </a:xfrm>
          <a:prstGeom prst="rect">
            <a:avLst/>
          </a:prstGeom>
          <a:effectLst>
            <a:glow rad="457200">
              <a:srgbClr val="FFFF00">
                <a:alpha val="53000"/>
              </a:srgbClr>
            </a:glow>
          </a:effectLst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4C832B5-FA00-0979-D02B-B854AC8335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370" y="2077830"/>
            <a:ext cx="785670" cy="75292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E111788-E97D-9916-C9DF-3182041C5193}"/>
              </a:ext>
            </a:extLst>
          </p:cNvPr>
          <p:cNvSpPr txBox="1"/>
          <p:nvPr/>
        </p:nvSpPr>
        <p:spPr>
          <a:xfrm>
            <a:off x="3969328" y="2158373"/>
            <a:ext cx="2985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내가 입력 데이터들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이렇게 해석했는데 이거 맞아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?”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0" name="화살표: 아래쪽 29">
            <a:extLst>
              <a:ext uri="{FF2B5EF4-FFF2-40B4-BE49-F238E27FC236}">
                <a16:creationId xmlns:a16="http://schemas.microsoft.com/office/drawing/2014/main" id="{33B4C46B-B315-3053-6863-28423C5C76E1}"/>
              </a:ext>
            </a:extLst>
          </p:cNvPr>
          <p:cNvSpPr/>
          <p:nvPr/>
        </p:nvSpPr>
        <p:spPr>
          <a:xfrm rot="16200000">
            <a:off x="7037243" y="3802802"/>
            <a:ext cx="500942" cy="664957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glow rad="1778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380EADDA-E8AC-4529-5C34-7E41D18B41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799" y="3777952"/>
            <a:ext cx="695772" cy="69577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88E1CD2-878B-5E2C-267C-29C8AD6F4E87}"/>
              </a:ext>
            </a:extLst>
          </p:cNvPr>
          <p:cNvSpPr txBox="1"/>
          <p:nvPr/>
        </p:nvSpPr>
        <p:spPr>
          <a:xfrm>
            <a:off x="8697571" y="3983003"/>
            <a:ext cx="2597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확인 해보고 </a:t>
            </a:r>
            <a:r>
              <a:rPr lang="ko-KR" altLang="en-US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승인해줄게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!”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2515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FE371-1AFD-AEA2-4F75-39826C8E5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B37FD1DA-4EC9-A52F-B2CD-88770806DD86}"/>
              </a:ext>
            </a:extLst>
          </p:cNvPr>
          <p:cNvGrpSpPr/>
          <p:nvPr/>
        </p:nvGrpSpPr>
        <p:grpSpPr>
          <a:xfrm>
            <a:off x="724189" y="626099"/>
            <a:ext cx="4512829" cy="676532"/>
            <a:chOff x="724189" y="626099"/>
            <a:chExt cx="4512829" cy="6765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C0ECA24-3CF6-40B1-2FD1-9B91B51FE8E3}"/>
                </a:ext>
              </a:extLst>
            </p:cNvPr>
            <p:cNvSpPr/>
            <p:nvPr/>
          </p:nvSpPr>
          <p:spPr>
            <a:xfrm>
              <a:off x="733425" y="784223"/>
              <a:ext cx="4418238" cy="504825"/>
            </a:xfrm>
            <a:prstGeom prst="rect">
              <a:avLst/>
            </a:prstGeom>
            <a:solidFill>
              <a:srgbClr val="578F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254F73D-D023-9474-2807-AF9A83B4EFFF}"/>
                </a:ext>
              </a:extLst>
            </p:cNvPr>
            <p:cNvSpPr txBox="1"/>
            <p:nvPr/>
          </p:nvSpPr>
          <p:spPr>
            <a:xfrm>
              <a:off x="724189" y="626099"/>
              <a:ext cx="4512829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2.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Measure Trace 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구조 설계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5" name="제목 3">
            <a:extLst>
              <a:ext uri="{FF2B5EF4-FFF2-40B4-BE49-F238E27FC236}">
                <a16:creationId xmlns:a16="http://schemas.microsoft.com/office/drawing/2014/main" id="{2E613717-D6F7-5FBE-78C3-48D673D8B835}"/>
              </a:ext>
            </a:extLst>
          </p:cNvPr>
          <p:cNvSpPr txBox="1">
            <a:spLocks/>
          </p:cNvSpPr>
          <p:nvPr/>
        </p:nvSpPr>
        <p:spPr>
          <a:xfrm>
            <a:off x="5170137" y="784223"/>
            <a:ext cx="6643174" cy="71120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2.1 [Scenario] 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재계산 기반 구축 단계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EB52116-63EB-3E6B-FB44-61EA91824A1D}"/>
              </a:ext>
            </a:extLst>
          </p:cNvPr>
          <p:cNvSpPr/>
          <p:nvPr/>
        </p:nvSpPr>
        <p:spPr>
          <a:xfrm>
            <a:off x="724189" y="1447172"/>
            <a:ext cx="1621848" cy="351849"/>
          </a:xfrm>
          <a:prstGeom prst="roundRect">
            <a:avLst/>
          </a:prstGeom>
          <a:solidFill>
            <a:srgbClr val="E7F1FB"/>
          </a:solidFill>
          <a:ln w="19050">
            <a:solidFill>
              <a:srgbClr val="3F8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sz="1400" dirty="0">
              <a:solidFill>
                <a:srgbClr val="0D3F7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BFCEAF3-6E61-87B4-1DB2-5F40EC09A75F}"/>
              </a:ext>
            </a:extLst>
          </p:cNvPr>
          <p:cNvSpPr/>
          <p:nvPr/>
        </p:nvSpPr>
        <p:spPr>
          <a:xfrm>
            <a:off x="2558041" y="1447172"/>
            <a:ext cx="1621848" cy="351849"/>
          </a:xfrm>
          <a:prstGeom prst="roundRect">
            <a:avLst/>
          </a:prstGeom>
          <a:solidFill>
            <a:srgbClr val="EEEDFD"/>
          </a:solidFill>
          <a:ln w="19050">
            <a:solidFill>
              <a:srgbClr val="8D84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D247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</a:t>
            </a:r>
            <a:endParaRPr lang="ko-KR" altLang="en-US" sz="1400" dirty="0">
              <a:solidFill>
                <a:srgbClr val="2D247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0AE40C3-6D4A-58DD-8CFB-199F6C6564DD}"/>
              </a:ext>
            </a:extLst>
          </p:cNvPr>
          <p:cNvSpPr/>
          <p:nvPr/>
        </p:nvSpPr>
        <p:spPr>
          <a:xfrm>
            <a:off x="4391892" y="1447172"/>
            <a:ext cx="1621848" cy="351849"/>
          </a:xfrm>
          <a:prstGeom prst="roundRect">
            <a:avLst/>
          </a:prstGeom>
          <a:solidFill>
            <a:srgbClr val="E1F4EE"/>
          </a:solidFill>
          <a:ln w="19050">
            <a:solidFill>
              <a:srgbClr val="4BB1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0665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Confirm</a:t>
            </a:r>
            <a:endParaRPr lang="ko-KR" altLang="en-US" sz="1400" dirty="0">
              <a:solidFill>
                <a:srgbClr val="20665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6172375-5619-07D6-3505-4B889C3A0085}"/>
              </a:ext>
            </a:extLst>
          </p:cNvPr>
          <p:cNvSpPr/>
          <p:nvPr/>
        </p:nvSpPr>
        <p:spPr>
          <a:xfrm>
            <a:off x="6225743" y="1447172"/>
            <a:ext cx="1621849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7784F35-4EBC-6ADF-1C0E-FC35108B949F}"/>
              </a:ext>
            </a:extLst>
          </p:cNvPr>
          <p:cNvSpPr/>
          <p:nvPr/>
        </p:nvSpPr>
        <p:spPr>
          <a:xfrm>
            <a:off x="8059596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Validate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40ED002-DC88-7D93-1EA0-40C9A8D618CF}"/>
              </a:ext>
            </a:extLst>
          </p:cNvPr>
          <p:cNvSpPr/>
          <p:nvPr/>
        </p:nvSpPr>
        <p:spPr>
          <a:xfrm>
            <a:off x="9893447" y="1456408"/>
            <a:ext cx="1621849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Audit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4B50130-22CE-A507-3286-03D880989723}"/>
              </a:ext>
            </a:extLst>
          </p:cNvPr>
          <p:cNvSpPr/>
          <p:nvPr/>
        </p:nvSpPr>
        <p:spPr>
          <a:xfrm>
            <a:off x="780068" y="3611878"/>
            <a:ext cx="1621848" cy="563418"/>
          </a:xfrm>
          <a:prstGeom prst="roundRect">
            <a:avLst/>
          </a:prstGeom>
          <a:solidFill>
            <a:srgbClr val="E1F4EE"/>
          </a:solidFill>
          <a:ln w="19050">
            <a:solidFill>
              <a:srgbClr val="4BB1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20665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Confirm</a:t>
            </a:r>
            <a:endParaRPr lang="ko-KR" altLang="en-US" dirty="0">
              <a:solidFill>
                <a:srgbClr val="20665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F3EEC5-8AC9-7F56-8401-B1075673F27A}"/>
              </a:ext>
            </a:extLst>
          </p:cNvPr>
          <p:cNvSpPr txBox="1"/>
          <p:nvPr/>
        </p:nvSpPr>
        <p:spPr>
          <a:xfrm>
            <a:off x="745247" y="4161674"/>
            <a:ext cx="1691489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20665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진행상황 중간</a:t>
            </a:r>
            <a:endParaRPr lang="en-US" altLang="ko-KR" dirty="0">
              <a:solidFill>
                <a:srgbClr val="20665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20665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승인 단계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8034A67-AEF1-1C71-2A5C-AA4EB7251E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7"/>
          <a:stretch>
            <a:fillRect/>
          </a:stretch>
        </p:blipFill>
        <p:spPr>
          <a:xfrm>
            <a:off x="3498707" y="3149254"/>
            <a:ext cx="2727036" cy="1324470"/>
          </a:xfrm>
          <a:prstGeom prst="rect">
            <a:avLst/>
          </a:prstGeom>
          <a:effectLst>
            <a:glow rad="457200">
              <a:srgbClr val="FFFF00">
                <a:alpha val="49000"/>
              </a:srgbClr>
            </a:glow>
          </a:effectLst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3584720-15A1-9949-16C3-05D183F37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8707" y="4992474"/>
            <a:ext cx="2727036" cy="967658"/>
          </a:xfrm>
          <a:prstGeom prst="rect">
            <a:avLst/>
          </a:prstGeom>
          <a:effectLst>
            <a:glow rad="457200">
              <a:srgbClr val="FFFF00">
                <a:alpha val="53000"/>
              </a:srgbClr>
            </a:glow>
          </a:effectLst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3699DA17-54B3-7883-AB38-7EC520D0BB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370" y="2077830"/>
            <a:ext cx="785670" cy="75292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7697D3E-3F95-4D0D-BC55-5E632F1C5ABD}"/>
              </a:ext>
            </a:extLst>
          </p:cNvPr>
          <p:cNvSpPr txBox="1"/>
          <p:nvPr/>
        </p:nvSpPr>
        <p:spPr>
          <a:xfrm>
            <a:off x="3969328" y="2158373"/>
            <a:ext cx="2985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내가 입력 데이터들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이렇게 해석했는데 이거 맞아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?”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0" name="화살표: 아래쪽 29">
            <a:extLst>
              <a:ext uri="{FF2B5EF4-FFF2-40B4-BE49-F238E27FC236}">
                <a16:creationId xmlns:a16="http://schemas.microsoft.com/office/drawing/2014/main" id="{F203A165-A383-759A-2FFB-FD55BA0A3690}"/>
              </a:ext>
            </a:extLst>
          </p:cNvPr>
          <p:cNvSpPr/>
          <p:nvPr/>
        </p:nvSpPr>
        <p:spPr>
          <a:xfrm rot="16200000">
            <a:off x="7037243" y="3802802"/>
            <a:ext cx="500942" cy="664957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glow rad="1778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958ECD81-28B2-C10D-DF74-B68F77F843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799" y="3777952"/>
            <a:ext cx="695772" cy="69577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C149A49-A452-9E0D-C6AF-10F5D4FCC022}"/>
              </a:ext>
            </a:extLst>
          </p:cNvPr>
          <p:cNvSpPr txBox="1"/>
          <p:nvPr/>
        </p:nvSpPr>
        <p:spPr>
          <a:xfrm>
            <a:off x="8697571" y="3983003"/>
            <a:ext cx="2597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확인 해보고 </a:t>
            </a:r>
            <a:r>
              <a:rPr lang="ko-KR" altLang="en-US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승인해줄게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!”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F9F3E7D-D857-7BCF-02A5-662923C8B3EA}"/>
              </a:ext>
            </a:extLst>
          </p:cNvPr>
          <p:cNvSpPr/>
          <p:nvPr/>
        </p:nvSpPr>
        <p:spPr>
          <a:xfrm>
            <a:off x="2401916" y="1751197"/>
            <a:ext cx="9300557" cy="4788148"/>
          </a:xfrm>
          <a:prstGeom prst="rect">
            <a:avLst/>
          </a:prstGeom>
          <a:solidFill>
            <a:schemeClr val="bg2">
              <a:lumMod val="25000"/>
              <a:alpha val="55686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EB6ADE7-FE0B-DF6B-9292-B15EB7DEC2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049" y="3235340"/>
            <a:ext cx="1525576" cy="1461994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4254131-4608-2982-7FBA-2C10C432D60B}"/>
              </a:ext>
            </a:extLst>
          </p:cNvPr>
          <p:cNvSpPr txBox="1"/>
          <p:nvPr/>
        </p:nvSpPr>
        <p:spPr>
          <a:xfrm>
            <a:off x="4904725" y="3693665"/>
            <a:ext cx="63097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effectLst>
                  <a:glow rad="101600">
                    <a:srgbClr val="FF7C80">
                      <a:alpha val="83000"/>
                    </a:srgb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수정 사항이 있는 경우 사용자의 피드백 반영</a:t>
            </a:r>
          </a:p>
        </p:txBody>
      </p:sp>
    </p:spTree>
    <p:extLst>
      <p:ext uri="{BB962C8B-B14F-4D97-AF65-F5344CB8AC3E}">
        <p14:creationId xmlns:p14="http://schemas.microsoft.com/office/powerpoint/2010/main" val="12957802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2F7A7-F19E-F258-9706-FFBBA9E3D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A251CC72-95DB-D665-9DAB-E9C1733D06DF}"/>
              </a:ext>
            </a:extLst>
          </p:cNvPr>
          <p:cNvGrpSpPr/>
          <p:nvPr/>
        </p:nvGrpSpPr>
        <p:grpSpPr>
          <a:xfrm>
            <a:off x="724189" y="626099"/>
            <a:ext cx="4436710" cy="676532"/>
            <a:chOff x="724189" y="626099"/>
            <a:chExt cx="4436710" cy="6765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6D15D52-9266-F048-1EC5-782FCFD369C3}"/>
                </a:ext>
              </a:extLst>
            </p:cNvPr>
            <p:cNvSpPr/>
            <p:nvPr/>
          </p:nvSpPr>
          <p:spPr>
            <a:xfrm>
              <a:off x="733425" y="784223"/>
              <a:ext cx="4418238" cy="504825"/>
            </a:xfrm>
            <a:prstGeom prst="rect">
              <a:avLst/>
            </a:prstGeom>
            <a:solidFill>
              <a:srgbClr val="578F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7864E8-5347-8B00-906D-7818D1D5F707}"/>
                </a:ext>
              </a:extLst>
            </p:cNvPr>
            <p:cNvSpPr txBox="1"/>
            <p:nvPr/>
          </p:nvSpPr>
          <p:spPr>
            <a:xfrm>
              <a:off x="724189" y="626099"/>
              <a:ext cx="4436710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2.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Measure Trace 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구조 설계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D91EDD7-1CEE-71DC-8F2D-DA51CC8946C8}"/>
              </a:ext>
            </a:extLst>
          </p:cNvPr>
          <p:cNvSpPr/>
          <p:nvPr/>
        </p:nvSpPr>
        <p:spPr>
          <a:xfrm>
            <a:off x="724189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CE10206-977D-134E-90A7-4786B19C2CB2}"/>
              </a:ext>
            </a:extLst>
          </p:cNvPr>
          <p:cNvSpPr/>
          <p:nvPr/>
        </p:nvSpPr>
        <p:spPr>
          <a:xfrm>
            <a:off x="2558041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05A6F32-B26D-D25A-E7B5-D937E93FAF02}"/>
              </a:ext>
            </a:extLst>
          </p:cNvPr>
          <p:cNvSpPr/>
          <p:nvPr/>
        </p:nvSpPr>
        <p:spPr>
          <a:xfrm>
            <a:off x="4391892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Confirm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0C14146-433E-D147-48BE-6E39A461CB5A}"/>
              </a:ext>
            </a:extLst>
          </p:cNvPr>
          <p:cNvSpPr/>
          <p:nvPr/>
        </p:nvSpPr>
        <p:spPr>
          <a:xfrm>
            <a:off x="6225743" y="1447172"/>
            <a:ext cx="1621849" cy="351849"/>
          </a:xfrm>
          <a:prstGeom prst="roundRect">
            <a:avLst/>
          </a:prstGeom>
          <a:solidFill>
            <a:srgbClr val="FDF3F1"/>
          </a:solidFill>
          <a:ln w="19050">
            <a:solidFill>
              <a:srgbClr val="E39F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C04F1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endParaRPr lang="ko-KR" altLang="en-US" sz="1400" dirty="0">
              <a:solidFill>
                <a:srgbClr val="C04F15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DBAFCF9-E260-590E-A919-F29922A0AF56}"/>
              </a:ext>
            </a:extLst>
          </p:cNvPr>
          <p:cNvSpPr/>
          <p:nvPr/>
        </p:nvSpPr>
        <p:spPr>
          <a:xfrm>
            <a:off x="8059596" y="1447172"/>
            <a:ext cx="1621848" cy="351849"/>
          </a:xfrm>
          <a:prstGeom prst="roundRect">
            <a:avLst/>
          </a:prstGeom>
          <a:solidFill>
            <a:srgbClr val="FCFACC"/>
          </a:solidFill>
          <a:ln w="19050">
            <a:solidFill>
              <a:srgbClr val="EDF1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Validate</a:t>
            </a:r>
            <a:endParaRPr lang="ko-KR" altLang="en-US" sz="1400" dirty="0">
              <a:solidFill>
                <a:srgbClr val="FFC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EF54549-94E3-3376-1469-C626BE88D482}"/>
              </a:ext>
            </a:extLst>
          </p:cNvPr>
          <p:cNvSpPr/>
          <p:nvPr/>
        </p:nvSpPr>
        <p:spPr>
          <a:xfrm>
            <a:off x="9893447" y="1456408"/>
            <a:ext cx="1621849" cy="351849"/>
          </a:xfrm>
          <a:prstGeom prst="roundRect">
            <a:avLst/>
          </a:prstGeom>
          <a:solidFill>
            <a:srgbClr val="D1D1D1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Audit</a:t>
            </a:r>
            <a:endParaRPr lang="ko-KR" altLang="en-US" sz="1400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7" name="제목 3">
            <a:extLst>
              <a:ext uri="{FF2B5EF4-FFF2-40B4-BE49-F238E27FC236}">
                <a16:creationId xmlns:a16="http://schemas.microsoft.com/office/drawing/2014/main" id="{4106D477-3806-8012-EE76-3F2E52E2C072}"/>
              </a:ext>
            </a:extLst>
          </p:cNvPr>
          <p:cNvSpPr txBox="1">
            <a:spLocks/>
          </p:cNvSpPr>
          <p:nvPr/>
        </p:nvSpPr>
        <p:spPr>
          <a:xfrm>
            <a:off x="5170137" y="784223"/>
            <a:ext cx="6643174" cy="71120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2.2 [Scenario] 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 재현 및 검증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1CFB58A-C5A1-CFA2-FDD2-259EFBBBD9C6}"/>
              </a:ext>
            </a:extLst>
          </p:cNvPr>
          <p:cNvSpPr/>
          <p:nvPr/>
        </p:nvSpPr>
        <p:spPr>
          <a:xfrm>
            <a:off x="780068" y="3614303"/>
            <a:ext cx="1621848" cy="563418"/>
          </a:xfrm>
          <a:prstGeom prst="roundRect">
            <a:avLst/>
          </a:prstGeom>
          <a:solidFill>
            <a:srgbClr val="FDF3F1"/>
          </a:solidFill>
          <a:ln w="19050">
            <a:solidFill>
              <a:srgbClr val="E39F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endParaRPr lang="ko-KR" altLang="en-US" dirty="0">
              <a:solidFill>
                <a:schemeClr val="accent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43D161-8BEE-4369-A0C1-7363D9584D2D}"/>
              </a:ext>
            </a:extLst>
          </p:cNvPr>
          <p:cNvSpPr txBox="1"/>
          <p:nvPr/>
        </p:nvSpPr>
        <p:spPr>
          <a:xfrm>
            <a:off x="745247" y="4177721"/>
            <a:ext cx="1691489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C04F1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수집 데이터 바탕</a:t>
            </a:r>
            <a:endParaRPr lang="en-US" altLang="ko-KR" dirty="0">
              <a:solidFill>
                <a:srgbClr val="C04F15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C04F1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재계산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822124-9E4A-9C41-C2DC-D82FACDC0417}"/>
                  </a:ext>
                </a:extLst>
              </p:cNvPr>
              <p:cNvSpPr txBox="1"/>
              <p:nvPr/>
            </p:nvSpPr>
            <p:spPr>
              <a:xfrm>
                <a:off x="5530625" y="3065940"/>
                <a:ext cx="36417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0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이 때 까지 모은 데이터를 바탕으로 논문 속 수치</a:t>
                </a:r>
                <a:r>
                  <a:rPr lang="en-US" altLang="ko-KR" sz="20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_ac Bold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_ac Bold" panose="020B0600000101010101" pitchFamily="50" charset="-127"/>
                          </a:rPr>
                          <m:t>𝐸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_ac Bold" panose="020B0600000101010101" pitchFamily="50" charset="-127"/>
                          </a:rPr>
                          <m:t>𝑃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스퀘어_ac Bold" panose="020B0600000101010101" pitchFamily="50" charset="-127"/>
                      </a:rPr>
                      <m:t>, 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_ac Bold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_ac Bold" panose="020B0600000101010101" pitchFamily="50" charset="-127"/>
                          </a:rPr>
                          <m:t>𝐸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_ac Bold" panose="020B0600000101010101" pitchFamily="50" charset="-127"/>
                          </a:rPr>
                          <m:t>𝑘</m:t>
                        </m:r>
                      </m:sub>
                    </m:sSub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나눔스퀘어_ac Bold" panose="020B0600000101010101" pitchFamily="50" charset="-127"/>
                      </a:rPr>
                      <m:t> 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스퀘어_ac Bold" panose="020B0600000101010101" pitchFamily="50" charset="-127"/>
                      </a:rPr>
                      <m:t>등</m:t>
                    </m:r>
                  </m:oMath>
                </a14:m>
                <a:r>
                  <a:rPr lang="en-US" altLang="ko-KR" sz="20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)</a:t>
                </a:r>
                <a:r>
                  <a:rPr lang="ko-KR" altLang="en-US" sz="20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 재계산 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822124-9E4A-9C41-C2DC-D82FACDC0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625" y="3065940"/>
                <a:ext cx="3641754" cy="707886"/>
              </a:xfrm>
              <a:prstGeom prst="rect">
                <a:avLst/>
              </a:prstGeom>
              <a:blipFill>
                <a:blip r:embed="rId2"/>
                <a:stretch>
                  <a:fillRect l="-669" t="-5172" r="-669" b="-155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FCE441C-5AC6-A47D-4161-767E80002072}"/>
              </a:ext>
            </a:extLst>
          </p:cNvPr>
          <p:cNvSpPr txBox="1"/>
          <p:nvPr/>
        </p:nvSpPr>
        <p:spPr>
          <a:xfrm>
            <a:off x="5663901" y="4274629"/>
            <a:ext cx="33752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계산한 기록에 대한</a:t>
            </a:r>
            <a:endParaRPr lang="en-US" altLang="ko-KR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로그 생성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8F6A37-2F1C-BC8B-70AF-2CF983393718}"/>
              </a:ext>
            </a:extLst>
          </p:cNvPr>
          <p:cNvSpPr txBox="1"/>
          <p:nvPr/>
        </p:nvSpPr>
        <p:spPr>
          <a:xfrm>
            <a:off x="7135738" y="3719701"/>
            <a:ext cx="4315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+</a:t>
            </a:r>
            <a:endParaRPr lang="ko-KR" altLang="en-US" sz="3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A554E1C-EE3E-A389-E81E-44DE501D7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0376" y="3451963"/>
            <a:ext cx="1120249" cy="112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970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4BD04-18B0-EE72-C995-5264DF70A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0F755BE0-378D-CC79-367C-F4FE5A004FAD}"/>
              </a:ext>
            </a:extLst>
          </p:cNvPr>
          <p:cNvGrpSpPr/>
          <p:nvPr/>
        </p:nvGrpSpPr>
        <p:grpSpPr>
          <a:xfrm>
            <a:off x="724189" y="626099"/>
            <a:ext cx="4436710" cy="676532"/>
            <a:chOff x="724189" y="626099"/>
            <a:chExt cx="4436710" cy="6765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EDEF7FA-9C34-2A39-531F-E22409782EF6}"/>
                </a:ext>
              </a:extLst>
            </p:cNvPr>
            <p:cNvSpPr/>
            <p:nvPr/>
          </p:nvSpPr>
          <p:spPr>
            <a:xfrm>
              <a:off x="733425" y="784223"/>
              <a:ext cx="4418238" cy="504825"/>
            </a:xfrm>
            <a:prstGeom prst="rect">
              <a:avLst/>
            </a:prstGeom>
            <a:solidFill>
              <a:srgbClr val="578F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E3F4D79-B835-7C88-8CD9-1270429BD80D}"/>
                </a:ext>
              </a:extLst>
            </p:cNvPr>
            <p:cNvSpPr txBox="1"/>
            <p:nvPr/>
          </p:nvSpPr>
          <p:spPr>
            <a:xfrm>
              <a:off x="724189" y="626099"/>
              <a:ext cx="4436710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2.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Measure Trace 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구조 설계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B994215-0F15-0433-E4C5-7BA4EF27B626}"/>
              </a:ext>
            </a:extLst>
          </p:cNvPr>
          <p:cNvSpPr/>
          <p:nvPr/>
        </p:nvSpPr>
        <p:spPr>
          <a:xfrm>
            <a:off x="724189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165BCD9-B3E3-7488-0577-D28848DE231F}"/>
              </a:ext>
            </a:extLst>
          </p:cNvPr>
          <p:cNvSpPr/>
          <p:nvPr/>
        </p:nvSpPr>
        <p:spPr>
          <a:xfrm>
            <a:off x="2558041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1E4785E-6D88-FA39-678E-3DB74E03E848}"/>
              </a:ext>
            </a:extLst>
          </p:cNvPr>
          <p:cNvSpPr/>
          <p:nvPr/>
        </p:nvSpPr>
        <p:spPr>
          <a:xfrm>
            <a:off x="4391892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Confirm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17907E7-ABA4-D3C9-BCE6-C312B4F7BD6E}"/>
              </a:ext>
            </a:extLst>
          </p:cNvPr>
          <p:cNvSpPr/>
          <p:nvPr/>
        </p:nvSpPr>
        <p:spPr>
          <a:xfrm>
            <a:off x="6225743" y="1447172"/>
            <a:ext cx="1621849" cy="351849"/>
          </a:xfrm>
          <a:prstGeom prst="roundRect">
            <a:avLst/>
          </a:prstGeom>
          <a:solidFill>
            <a:srgbClr val="FDF3F1"/>
          </a:solidFill>
          <a:ln w="19050">
            <a:solidFill>
              <a:srgbClr val="E39F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C04F1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endParaRPr lang="ko-KR" altLang="en-US" sz="1400" dirty="0">
              <a:solidFill>
                <a:srgbClr val="C04F15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E52C79D-627C-5A90-1E2E-D9C2C8C2A3B9}"/>
              </a:ext>
            </a:extLst>
          </p:cNvPr>
          <p:cNvSpPr/>
          <p:nvPr/>
        </p:nvSpPr>
        <p:spPr>
          <a:xfrm>
            <a:off x="8059596" y="1447172"/>
            <a:ext cx="1621848" cy="351849"/>
          </a:xfrm>
          <a:prstGeom prst="roundRect">
            <a:avLst/>
          </a:prstGeom>
          <a:solidFill>
            <a:srgbClr val="FCFACC"/>
          </a:solidFill>
          <a:ln w="19050">
            <a:solidFill>
              <a:srgbClr val="EDF1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Validate</a:t>
            </a:r>
            <a:endParaRPr lang="ko-KR" altLang="en-US" sz="1400" dirty="0">
              <a:solidFill>
                <a:srgbClr val="FFC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8476DE8-EECD-4A7F-98BB-458A125634AB}"/>
              </a:ext>
            </a:extLst>
          </p:cNvPr>
          <p:cNvSpPr/>
          <p:nvPr/>
        </p:nvSpPr>
        <p:spPr>
          <a:xfrm>
            <a:off x="9893447" y="1456408"/>
            <a:ext cx="1621849" cy="351849"/>
          </a:xfrm>
          <a:prstGeom prst="roundRect">
            <a:avLst/>
          </a:prstGeom>
          <a:solidFill>
            <a:srgbClr val="D1D1D1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Audit</a:t>
            </a:r>
            <a:endParaRPr lang="ko-KR" altLang="en-US" sz="1400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7" name="제목 3">
            <a:extLst>
              <a:ext uri="{FF2B5EF4-FFF2-40B4-BE49-F238E27FC236}">
                <a16:creationId xmlns:a16="http://schemas.microsoft.com/office/drawing/2014/main" id="{04FEBC2C-5889-CC84-2575-4CFB7D0BB303}"/>
              </a:ext>
            </a:extLst>
          </p:cNvPr>
          <p:cNvSpPr txBox="1">
            <a:spLocks/>
          </p:cNvSpPr>
          <p:nvPr/>
        </p:nvSpPr>
        <p:spPr>
          <a:xfrm>
            <a:off x="5170137" y="784223"/>
            <a:ext cx="6643174" cy="71120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2.2 [Scenario] 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 재현 및 검증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81AF604-B5BB-05F4-04DE-5187057F2D4A}"/>
              </a:ext>
            </a:extLst>
          </p:cNvPr>
          <p:cNvSpPr/>
          <p:nvPr/>
        </p:nvSpPr>
        <p:spPr>
          <a:xfrm>
            <a:off x="780068" y="3614303"/>
            <a:ext cx="1621848" cy="563418"/>
          </a:xfrm>
          <a:prstGeom prst="roundRect">
            <a:avLst/>
          </a:prstGeom>
          <a:solidFill>
            <a:srgbClr val="FCFACC"/>
          </a:solidFill>
          <a:ln w="19050">
            <a:solidFill>
              <a:srgbClr val="EDF1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Validate</a:t>
            </a:r>
            <a:endParaRPr lang="ko-KR" altLang="en-US" dirty="0">
              <a:solidFill>
                <a:srgbClr val="FFC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13D9D-39DA-821A-FA74-1B2A25B3025C}"/>
              </a:ext>
            </a:extLst>
          </p:cNvPr>
          <p:cNvSpPr txBox="1"/>
          <p:nvPr/>
        </p:nvSpPr>
        <p:spPr>
          <a:xfrm>
            <a:off x="844633" y="4177721"/>
            <a:ext cx="1492716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결과값 대조 및</a:t>
            </a:r>
            <a:endParaRPr lang="en-US" altLang="ko-KR" dirty="0">
              <a:solidFill>
                <a:srgbClr val="FFC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오류 코드 분류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327D766-42D8-9EC2-3FB1-365FC907167B}"/>
              </a:ext>
            </a:extLst>
          </p:cNvPr>
          <p:cNvGrpSpPr/>
          <p:nvPr/>
        </p:nvGrpSpPr>
        <p:grpSpPr>
          <a:xfrm>
            <a:off x="3244065" y="3429000"/>
            <a:ext cx="1621848" cy="1435608"/>
            <a:chOff x="8401724" y="4109973"/>
            <a:chExt cx="1949296" cy="1723735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9496EC5-1521-A2F2-A94D-897B32B24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8641892" y="4109973"/>
              <a:ext cx="1468961" cy="138518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FC758D3-E18F-5668-6833-D900ACDB949A}"/>
                </a:ext>
              </a:extLst>
            </p:cNvPr>
            <p:cNvSpPr txBox="1"/>
            <p:nvPr/>
          </p:nvSpPr>
          <p:spPr>
            <a:xfrm>
              <a:off x="8401724" y="5495154"/>
              <a:ext cx="19492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논문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.docx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C275243A-7045-C95A-A342-FB00C8851070}"/>
              </a:ext>
            </a:extLst>
          </p:cNvPr>
          <p:cNvSpPr/>
          <p:nvPr/>
        </p:nvSpPr>
        <p:spPr>
          <a:xfrm rot="16200000">
            <a:off x="5845529" y="3618568"/>
            <a:ext cx="500942" cy="745126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glow rad="1778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F7BB8A-477B-117D-5373-47F567A4721A}"/>
              </a:ext>
            </a:extLst>
          </p:cNvPr>
          <p:cNvSpPr txBox="1"/>
          <p:nvPr/>
        </p:nvSpPr>
        <p:spPr>
          <a:xfrm>
            <a:off x="7525912" y="3195186"/>
            <a:ext cx="3185487" cy="1714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_____________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_______________________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________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_________________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67B015E1-E557-5072-3C61-2ADAFBC437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848" y="2323905"/>
            <a:ext cx="749782" cy="74978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E28658E-F2CA-DC0D-F342-EE95323D25D1}"/>
              </a:ext>
            </a:extLst>
          </p:cNvPr>
          <p:cNvSpPr txBox="1"/>
          <p:nvPr/>
        </p:nvSpPr>
        <p:spPr>
          <a:xfrm>
            <a:off x="4808965" y="2344853"/>
            <a:ext cx="5316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en-US" altLang="ko-KR" sz="20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pySBD</a:t>
            </a:r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논문 속에 흩어져 있는 </a:t>
            </a:r>
            <a:b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주장하는 문장들을 개별적으로 추출해온 뒤 저장</a:t>
            </a:r>
          </a:p>
        </p:txBody>
      </p:sp>
    </p:spTree>
    <p:extLst>
      <p:ext uri="{BB962C8B-B14F-4D97-AF65-F5344CB8AC3E}">
        <p14:creationId xmlns:p14="http://schemas.microsoft.com/office/powerpoint/2010/main" val="12636367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CD522-6EEA-2129-F5C3-B2EB7AED8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5B4F1093-7903-A2B9-F433-F97BB3F6E40B}"/>
              </a:ext>
            </a:extLst>
          </p:cNvPr>
          <p:cNvGrpSpPr/>
          <p:nvPr/>
        </p:nvGrpSpPr>
        <p:grpSpPr>
          <a:xfrm>
            <a:off x="724189" y="626099"/>
            <a:ext cx="4436710" cy="676532"/>
            <a:chOff x="724189" y="626099"/>
            <a:chExt cx="4436710" cy="6765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EC4AD59-57F4-B513-FCFE-4841704FC301}"/>
                </a:ext>
              </a:extLst>
            </p:cNvPr>
            <p:cNvSpPr/>
            <p:nvPr/>
          </p:nvSpPr>
          <p:spPr>
            <a:xfrm>
              <a:off x="733425" y="784223"/>
              <a:ext cx="4418238" cy="504825"/>
            </a:xfrm>
            <a:prstGeom prst="rect">
              <a:avLst/>
            </a:prstGeom>
            <a:solidFill>
              <a:srgbClr val="578F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A362C99-4CD2-8178-6CB1-26AA410FF2BE}"/>
                </a:ext>
              </a:extLst>
            </p:cNvPr>
            <p:cNvSpPr txBox="1"/>
            <p:nvPr/>
          </p:nvSpPr>
          <p:spPr>
            <a:xfrm>
              <a:off x="724189" y="626099"/>
              <a:ext cx="4436710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2.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Measure Trace 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구조 설계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C0216DA-0C3A-14E5-EF6B-CA7721251BEE}"/>
              </a:ext>
            </a:extLst>
          </p:cNvPr>
          <p:cNvSpPr/>
          <p:nvPr/>
        </p:nvSpPr>
        <p:spPr>
          <a:xfrm>
            <a:off x="724189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379CA6A-8025-B7A1-10C5-CF839C7C4906}"/>
              </a:ext>
            </a:extLst>
          </p:cNvPr>
          <p:cNvSpPr/>
          <p:nvPr/>
        </p:nvSpPr>
        <p:spPr>
          <a:xfrm>
            <a:off x="2558041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8889A35-26C8-97C3-D26E-0606AC8CA7D8}"/>
              </a:ext>
            </a:extLst>
          </p:cNvPr>
          <p:cNvSpPr/>
          <p:nvPr/>
        </p:nvSpPr>
        <p:spPr>
          <a:xfrm>
            <a:off x="4391892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Confirm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072079C-3A6C-730F-3B0A-0DD095F10D9F}"/>
              </a:ext>
            </a:extLst>
          </p:cNvPr>
          <p:cNvSpPr/>
          <p:nvPr/>
        </p:nvSpPr>
        <p:spPr>
          <a:xfrm>
            <a:off x="6225743" y="1447172"/>
            <a:ext cx="1621849" cy="351849"/>
          </a:xfrm>
          <a:prstGeom prst="roundRect">
            <a:avLst/>
          </a:prstGeom>
          <a:solidFill>
            <a:srgbClr val="FDF3F1"/>
          </a:solidFill>
          <a:ln w="19050">
            <a:solidFill>
              <a:srgbClr val="E39F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C04F1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endParaRPr lang="ko-KR" altLang="en-US" sz="1400" dirty="0">
              <a:solidFill>
                <a:srgbClr val="C04F15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BD945A0-CBEA-A67E-5DED-89F07BA30EF7}"/>
              </a:ext>
            </a:extLst>
          </p:cNvPr>
          <p:cNvSpPr/>
          <p:nvPr/>
        </p:nvSpPr>
        <p:spPr>
          <a:xfrm>
            <a:off x="8059596" y="1447172"/>
            <a:ext cx="1621848" cy="351849"/>
          </a:xfrm>
          <a:prstGeom prst="roundRect">
            <a:avLst/>
          </a:prstGeom>
          <a:solidFill>
            <a:srgbClr val="FCFACC"/>
          </a:solidFill>
          <a:ln w="19050">
            <a:solidFill>
              <a:srgbClr val="EDF1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Validate</a:t>
            </a:r>
            <a:endParaRPr lang="ko-KR" altLang="en-US" sz="1400" dirty="0">
              <a:solidFill>
                <a:srgbClr val="FFC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58DA05A-9535-368A-1D65-D298DB79B65C}"/>
              </a:ext>
            </a:extLst>
          </p:cNvPr>
          <p:cNvSpPr/>
          <p:nvPr/>
        </p:nvSpPr>
        <p:spPr>
          <a:xfrm>
            <a:off x="9893447" y="1456408"/>
            <a:ext cx="1621849" cy="351849"/>
          </a:xfrm>
          <a:prstGeom prst="roundRect">
            <a:avLst/>
          </a:prstGeom>
          <a:solidFill>
            <a:srgbClr val="D1D1D1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Audit</a:t>
            </a:r>
            <a:endParaRPr lang="ko-KR" altLang="en-US" sz="1400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7" name="제목 3">
            <a:extLst>
              <a:ext uri="{FF2B5EF4-FFF2-40B4-BE49-F238E27FC236}">
                <a16:creationId xmlns:a16="http://schemas.microsoft.com/office/drawing/2014/main" id="{E8EFE8E4-ED0B-349E-D4F3-8D0F25231D0A}"/>
              </a:ext>
            </a:extLst>
          </p:cNvPr>
          <p:cNvSpPr txBox="1">
            <a:spLocks/>
          </p:cNvSpPr>
          <p:nvPr/>
        </p:nvSpPr>
        <p:spPr>
          <a:xfrm>
            <a:off x="5170137" y="784223"/>
            <a:ext cx="6643174" cy="71120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2.2 [Scenario] 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 재현 및 검증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2F3F706-60B1-9078-4B52-0DDAE2FAB9F1}"/>
              </a:ext>
            </a:extLst>
          </p:cNvPr>
          <p:cNvSpPr/>
          <p:nvPr/>
        </p:nvSpPr>
        <p:spPr>
          <a:xfrm>
            <a:off x="780068" y="3614303"/>
            <a:ext cx="1621848" cy="563418"/>
          </a:xfrm>
          <a:prstGeom prst="roundRect">
            <a:avLst/>
          </a:prstGeom>
          <a:solidFill>
            <a:srgbClr val="FCFACC"/>
          </a:solidFill>
          <a:ln w="19050">
            <a:solidFill>
              <a:srgbClr val="EDF1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Validate</a:t>
            </a:r>
            <a:endParaRPr lang="ko-KR" altLang="en-US" dirty="0">
              <a:solidFill>
                <a:srgbClr val="FFC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86EB92-205A-2D2C-FF5A-63CDF9374012}"/>
              </a:ext>
            </a:extLst>
          </p:cNvPr>
          <p:cNvSpPr txBox="1"/>
          <p:nvPr/>
        </p:nvSpPr>
        <p:spPr>
          <a:xfrm>
            <a:off x="844633" y="4177721"/>
            <a:ext cx="1492716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결과값 대조 및</a:t>
            </a:r>
            <a:endParaRPr lang="en-US" altLang="ko-KR" dirty="0">
              <a:solidFill>
                <a:srgbClr val="FFC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오류 코드 분류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162678E-F6D0-2430-2FB9-5B4F1FE2DF66}"/>
              </a:ext>
            </a:extLst>
          </p:cNvPr>
          <p:cNvGrpSpPr/>
          <p:nvPr/>
        </p:nvGrpSpPr>
        <p:grpSpPr>
          <a:xfrm>
            <a:off x="3244065" y="3429000"/>
            <a:ext cx="1621848" cy="1435608"/>
            <a:chOff x="8401724" y="4109973"/>
            <a:chExt cx="1949296" cy="1723735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9C4815C-3BB2-996A-3CAE-8E2B8CC49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8641892" y="4109973"/>
              <a:ext cx="1468961" cy="138518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CB2A811-7E0F-7546-37C5-B3D4C39C1D78}"/>
                </a:ext>
              </a:extLst>
            </p:cNvPr>
            <p:cNvSpPr txBox="1"/>
            <p:nvPr/>
          </p:nvSpPr>
          <p:spPr>
            <a:xfrm>
              <a:off x="8401724" y="5495154"/>
              <a:ext cx="19492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논문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.docx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5EEA4189-5168-CDE9-0020-9CDC3B9BE603}"/>
              </a:ext>
            </a:extLst>
          </p:cNvPr>
          <p:cNvSpPr/>
          <p:nvPr/>
        </p:nvSpPr>
        <p:spPr>
          <a:xfrm rot="16200000">
            <a:off x="5845529" y="3618568"/>
            <a:ext cx="500942" cy="745126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glow rad="1778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E964E7-6F2E-E8B9-6BBF-97C53DF84770}"/>
              </a:ext>
            </a:extLst>
          </p:cNvPr>
          <p:cNvSpPr txBox="1"/>
          <p:nvPr/>
        </p:nvSpPr>
        <p:spPr>
          <a:xfrm>
            <a:off x="7525912" y="3195186"/>
            <a:ext cx="3185487" cy="1714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_____________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_______________________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________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_________________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00B1A6-1CBE-0688-773C-6979E86115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842" y="2313192"/>
            <a:ext cx="953014" cy="9132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F73C20-3AFD-0170-4151-C9D2E4FF9B72}"/>
              </a:ext>
            </a:extLst>
          </p:cNvPr>
          <p:cNvSpPr txBox="1"/>
          <p:nvPr/>
        </p:nvSpPr>
        <p:spPr>
          <a:xfrm>
            <a:off x="5132613" y="2575012"/>
            <a:ext cx="346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각 문장의 종류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주장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비교 등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분류</a:t>
            </a:r>
          </a:p>
        </p:txBody>
      </p:sp>
    </p:spTree>
    <p:extLst>
      <p:ext uri="{BB962C8B-B14F-4D97-AF65-F5344CB8AC3E}">
        <p14:creationId xmlns:p14="http://schemas.microsoft.com/office/powerpoint/2010/main" val="7818640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4AA38-4530-257B-13CB-CE562909D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DDAFE510-7A85-9C44-84AD-E6777B1468B3}"/>
              </a:ext>
            </a:extLst>
          </p:cNvPr>
          <p:cNvGrpSpPr/>
          <p:nvPr/>
        </p:nvGrpSpPr>
        <p:grpSpPr>
          <a:xfrm>
            <a:off x="724189" y="626099"/>
            <a:ext cx="4436710" cy="676532"/>
            <a:chOff x="724189" y="626099"/>
            <a:chExt cx="4436710" cy="6765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7C9747F-7325-C8FE-27CE-A7D385AD504F}"/>
                </a:ext>
              </a:extLst>
            </p:cNvPr>
            <p:cNvSpPr/>
            <p:nvPr/>
          </p:nvSpPr>
          <p:spPr>
            <a:xfrm>
              <a:off x="733425" y="784223"/>
              <a:ext cx="4418238" cy="504825"/>
            </a:xfrm>
            <a:prstGeom prst="rect">
              <a:avLst/>
            </a:prstGeom>
            <a:solidFill>
              <a:srgbClr val="578F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6BD037C-8939-7646-0862-EE24C62CFDA6}"/>
                </a:ext>
              </a:extLst>
            </p:cNvPr>
            <p:cNvSpPr txBox="1"/>
            <p:nvPr/>
          </p:nvSpPr>
          <p:spPr>
            <a:xfrm>
              <a:off x="724189" y="626099"/>
              <a:ext cx="4436710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2.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Measure Trace 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구조 설계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CD832D7-A381-D8ED-F538-44559DDA592E}"/>
              </a:ext>
            </a:extLst>
          </p:cNvPr>
          <p:cNvSpPr/>
          <p:nvPr/>
        </p:nvSpPr>
        <p:spPr>
          <a:xfrm>
            <a:off x="724189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89CBF23-FC8F-3AE8-1121-7FB314B11D44}"/>
              </a:ext>
            </a:extLst>
          </p:cNvPr>
          <p:cNvSpPr/>
          <p:nvPr/>
        </p:nvSpPr>
        <p:spPr>
          <a:xfrm>
            <a:off x="2558041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43A1688-C1D3-666E-3029-51B7FFB9CC8D}"/>
              </a:ext>
            </a:extLst>
          </p:cNvPr>
          <p:cNvSpPr/>
          <p:nvPr/>
        </p:nvSpPr>
        <p:spPr>
          <a:xfrm>
            <a:off x="4391892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Confirm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07DDEC6-2E80-2DA3-4322-9A852A29C532}"/>
              </a:ext>
            </a:extLst>
          </p:cNvPr>
          <p:cNvSpPr/>
          <p:nvPr/>
        </p:nvSpPr>
        <p:spPr>
          <a:xfrm>
            <a:off x="6225743" y="1447172"/>
            <a:ext cx="1621849" cy="351849"/>
          </a:xfrm>
          <a:prstGeom prst="roundRect">
            <a:avLst/>
          </a:prstGeom>
          <a:solidFill>
            <a:srgbClr val="FDF3F1"/>
          </a:solidFill>
          <a:ln w="19050">
            <a:solidFill>
              <a:srgbClr val="E39F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C04F1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endParaRPr lang="ko-KR" altLang="en-US" sz="1400" dirty="0">
              <a:solidFill>
                <a:srgbClr val="C04F15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1F53140-2346-0626-4ED7-0704E6C33B0A}"/>
              </a:ext>
            </a:extLst>
          </p:cNvPr>
          <p:cNvSpPr/>
          <p:nvPr/>
        </p:nvSpPr>
        <p:spPr>
          <a:xfrm>
            <a:off x="8059596" y="1447172"/>
            <a:ext cx="1621848" cy="351849"/>
          </a:xfrm>
          <a:prstGeom prst="roundRect">
            <a:avLst/>
          </a:prstGeom>
          <a:solidFill>
            <a:srgbClr val="FCFACC"/>
          </a:solidFill>
          <a:ln w="19050">
            <a:solidFill>
              <a:srgbClr val="EDF1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Validate</a:t>
            </a:r>
            <a:endParaRPr lang="ko-KR" altLang="en-US" sz="1400" dirty="0">
              <a:solidFill>
                <a:srgbClr val="FFC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01DE84D-6F59-BE2F-93E1-B43566C9210B}"/>
              </a:ext>
            </a:extLst>
          </p:cNvPr>
          <p:cNvSpPr/>
          <p:nvPr/>
        </p:nvSpPr>
        <p:spPr>
          <a:xfrm>
            <a:off x="9893447" y="1456408"/>
            <a:ext cx="1621849" cy="351849"/>
          </a:xfrm>
          <a:prstGeom prst="roundRect">
            <a:avLst/>
          </a:prstGeom>
          <a:solidFill>
            <a:srgbClr val="D1D1D1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Audit</a:t>
            </a:r>
            <a:endParaRPr lang="ko-KR" altLang="en-US" sz="1400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7" name="제목 3">
            <a:extLst>
              <a:ext uri="{FF2B5EF4-FFF2-40B4-BE49-F238E27FC236}">
                <a16:creationId xmlns:a16="http://schemas.microsoft.com/office/drawing/2014/main" id="{3D443F31-9D85-1E0A-865C-3E9BE07862D0}"/>
              </a:ext>
            </a:extLst>
          </p:cNvPr>
          <p:cNvSpPr txBox="1">
            <a:spLocks/>
          </p:cNvSpPr>
          <p:nvPr/>
        </p:nvSpPr>
        <p:spPr>
          <a:xfrm>
            <a:off x="5170137" y="784223"/>
            <a:ext cx="6643174" cy="71120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2.2 [Scenario] 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 재현 및 검증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52102BA-D0F2-E812-3B76-132C1FFBDFA8}"/>
              </a:ext>
            </a:extLst>
          </p:cNvPr>
          <p:cNvSpPr/>
          <p:nvPr/>
        </p:nvSpPr>
        <p:spPr>
          <a:xfrm>
            <a:off x="780068" y="3614303"/>
            <a:ext cx="1621848" cy="563418"/>
          </a:xfrm>
          <a:prstGeom prst="roundRect">
            <a:avLst/>
          </a:prstGeom>
          <a:solidFill>
            <a:srgbClr val="FCFACC"/>
          </a:solidFill>
          <a:ln w="19050">
            <a:solidFill>
              <a:srgbClr val="EDF1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Validate</a:t>
            </a:r>
            <a:endParaRPr lang="ko-KR" altLang="en-US" dirty="0">
              <a:solidFill>
                <a:srgbClr val="FFC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B2E9E8-9100-B24A-F617-B848A9FCEA60}"/>
              </a:ext>
            </a:extLst>
          </p:cNvPr>
          <p:cNvSpPr txBox="1"/>
          <p:nvPr/>
        </p:nvSpPr>
        <p:spPr>
          <a:xfrm>
            <a:off x="844633" y="4177721"/>
            <a:ext cx="1492716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결과값 대조 및</a:t>
            </a:r>
            <a:endParaRPr lang="en-US" altLang="ko-KR" dirty="0">
              <a:solidFill>
                <a:srgbClr val="FFC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오류 코드 분류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67411C-4751-BF7F-5467-92FCEE61090C}"/>
              </a:ext>
            </a:extLst>
          </p:cNvPr>
          <p:cNvSpPr txBox="1"/>
          <p:nvPr/>
        </p:nvSpPr>
        <p:spPr>
          <a:xfrm>
            <a:off x="7497621" y="3191222"/>
            <a:ext cx="3185487" cy="1714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_____________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_______________________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________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_________________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F3F88B-974B-F06B-16A8-FD3A119974C5}"/>
              </a:ext>
            </a:extLst>
          </p:cNvPr>
          <p:cNvSpPr txBox="1"/>
          <p:nvPr/>
        </p:nvSpPr>
        <p:spPr>
          <a:xfrm>
            <a:off x="6474692" y="3766703"/>
            <a:ext cx="779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effectLst>
                  <a:glow rad="101600">
                    <a:srgbClr val="FF0000">
                      <a:alpha val="60000"/>
                    </a:srgb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VS</a:t>
            </a:r>
            <a:endParaRPr lang="ko-KR" altLang="en-US" sz="3600" dirty="0">
              <a:effectLst>
                <a:glow rad="101600">
                  <a:srgbClr val="FF0000">
                    <a:alpha val="60000"/>
                  </a:srgbClr>
                </a:glow>
              </a:effectLst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BE8B1E-5A1B-167D-3134-F9A02B46DBC1}"/>
              </a:ext>
            </a:extLst>
          </p:cNvPr>
          <p:cNvSpPr txBox="1"/>
          <p:nvPr/>
        </p:nvSpPr>
        <p:spPr>
          <a:xfrm>
            <a:off x="3292176" y="3930011"/>
            <a:ext cx="3375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 </a:t>
            </a:r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계산 결과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2D25239-2687-F85B-D3B7-64C588EF4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848" y="2238180"/>
            <a:ext cx="749782" cy="74978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B5F9525-3F61-45B3-1161-748BCD4EE9D5}"/>
              </a:ext>
            </a:extLst>
          </p:cNvPr>
          <p:cNvSpPr txBox="1"/>
          <p:nvPr/>
        </p:nvSpPr>
        <p:spPr>
          <a:xfrm>
            <a:off x="4788187" y="2386233"/>
            <a:ext cx="4496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 </a:t>
            </a:r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계산 결과와 논문 수치 비교</a:t>
            </a:r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14E88F5B-B3AD-358E-56B6-89F85719C8FD}"/>
              </a:ext>
            </a:extLst>
          </p:cNvPr>
          <p:cNvSpPr/>
          <p:nvPr/>
        </p:nvSpPr>
        <p:spPr>
          <a:xfrm>
            <a:off x="6667377" y="2949651"/>
            <a:ext cx="500942" cy="369332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glow rad="1778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화살표: 아래쪽 32">
            <a:extLst>
              <a:ext uri="{FF2B5EF4-FFF2-40B4-BE49-F238E27FC236}">
                <a16:creationId xmlns:a16="http://schemas.microsoft.com/office/drawing/2014/main" id="{B9533884-300B-1545-2C65-486D5AC77B55}"/>
              </a:ext>
            </a:extLst>
          </p:cNvPr>
          <p:cNvSpPr/>
          <p:nvPr/>
        </p:nvSpPr>
        <p:spPr>
          <a:xfrm>
            <a:off x="6667377" y="5108729"/>
            <a:ext cx="500942" cy="369332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glow rad="1778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47733A2B-BB06-199F-CD50-AE0ED0DBF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598" y="5458975"/>
            <a:ext cx="749782" cy="74978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03F8661-B66F-44C2-0FD6-FB320E3A3904}"/>
              </a:ext>
            </a:extLst>
          </p:cNvPr>
          <p:cNvSpPr txBox="1"/>
          <p:nvPr/>
        </p:nvSpPr>
        <p:spPr>
          <a:xfrm>
            <a:off x="4692937" y="5607028"/>
            <a:ext cx="47844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오류 종류 파악 및 오류 코드</a:t>
            </a:r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(E01-E07) </a:t>
            </a:r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분류 </a:t>
            </a:r>
          </a:p>
        </p:txBody>
      </p:sp>
    </p:spTree>
    <p:extLst>
      <p:ext uri="{BB962C8B-B14F-4D97-AF65-F5344CB8AC3E}">
        <p14:creationId xmlns:p14="http://schemas.microsoft.com/office/powerpoint/2010/main" val="2808517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9F7B4-EC3F-D53C-C029-60820E475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A625F221-3AAF-0FB4-1F59-40583572A30B}"/>
              </a:ext>
            </a:extLst>
          </p:cNvPr>
          <p:cNvGrpSpPr/>
          <p:nvPr/>
        </p:nvGrpSpPr>
        <p:grpSpPr>
          <a:xfrm>
            <a:off x="724189" y="626099"/>
            <a:ext cx="4436710" cy="676532"/>
            <a:chOff x="724189" y="626099"/>
            <a:chExt cx="4436710" cy="6765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46CEE3D-669D-C958-5C36-09BE88AE2360}"/>
                </a:ext>
              </a:extLst>
            </p:cNvPr>
            <p:cNvSpPr/>
            <p:nvPr/>
          </p:nvSpPr>
          <p:spPr>
            <a:xfrm>
              <a:off x="733425" y="784223"/>
              <a:ext cx="4418238" cy="504825"/>
            </a:xfrm>
            <a:prstGeom prst="rect">
              <a:avLst/>
            </a:prstGeom>
            <a:solidFill>
              <a:srgbClr val="578FFF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5E608F8-1B8C-6C61-D150-CE6DCE8C52E6}"/>
                </a:ext>
              </a:extLst>
            </p:cNvPr>
            <p:cNvSpPr txBox="1"/>
            <p:nvPr/>
          </p:nvSpPr>
          <p:spPr>
            <a:xfrm>
              <a:off x="724189" y="626099"/>
              <a:ext cx="4436710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2.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Measure Trace 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구조 설계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B72CA40-118D-8B89-398A-D2A4324053D7}"/>
              </a:ext>
            </a:extLst>
          </p:cNvPr>
          <p:cNvSpPr/>
          <p:nvPr/>
        </p:nvSpPr>
        <p:spPr>
          <a:xfrm>
            <a:off x="724189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AA6B38E-C239-D9BA-15E2-9323EF49FF6E}"/>
              </a:ext>
            </a:extLst>
          </p:cNvPr>
          <p:cNvSpPr/>
          <p:nvPr/>
        </p:nvSpPr>
        <p:spPr>
          <a:xfrm>
            <a:off x="2558041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Extract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E0175C1-B209-FB2C-474E-23FD17AD2A4A}"/>
              </a:ext>
            </a:extLst>
          </p:cNvPr>
          <p:cNvSpPr/>
          <p:nvPr/>
        </p:nvSpPr>
        <p:spPr>
          <a:xfrm>
            <a:off x="4391892" y="1447172"/>
            <a:ext cx="1621848" cy="3518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Confirm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F66F2C3-8AC7-F8A4-1E81-9409B854E4C0}"/>
              </a:ext>
            </a:extLst>
          </p:cNvPr>
          <p:cNvSpPr/>
          <p:nvPr/>
        </p:nvSpPr>
        <p:spPr>
          <a:xfrm>
            <a:off x="6225743" y="1447172"/>
            <a:ext cx="1621849" cy="351849"/>
          </a:xfrm>
          <a:prstGeom prst="roundRect">
            <a:avLst/>
          </a:prstGeom>
          <a:solidFill>
            <a:srgbClr val="FDF3F1"/>
          </a:solidFill>
          <a:ln w="19050">
            <a:solidFill>
              <a:srgbClr val="E39F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C04F1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endParaRPr lang="ko-KR" altLang="en-US" sz="1400" dirty="0">
              <a:solidFill>
                <a:srgbClr val="C04F15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5D2C7E3-EF06-ECC6-2FF0-3ED18381B785}"/>
              </a:ext>
            </a:extLst>
          </p:cNvPr>
          <p:cNvSpPr/>
          <p:nvPr/>
        </p:nvSpPr>
        <p:spPr>
          <a:xfrm>
            <a:off x="8059596" y="1447172"/>
            <a:ext cx="1621848" cy="351849"/>
          </a:xfrm>
          <a:prstGeom prst="roundRect">
            <a:avLst/>
          </a:prstGeom>
          <a:solidFill>
            <a:srgbClr val="FCFACC"/>
          </a:solidFill>
          <a:ln w="19050">
            <a:solidFill>
              <a:srgbClr val="EDF1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Validate</a:t>
            </a:r>
            <a:endParaRPr lang="ko-KR" altLang="en-US" sz="1400" dirty="0">
              <a:solidFill>
                <a:srgbClr val="FFC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D2BD5C1-87E4-B900-28DA-89D14AF2C0D6}"/>
              </a:ext>
            </a:extLst>
          </p:cNvPr>
          <p:cNvSpPr/>
          <p:nvPr/>
        </p:nvSpPr>
        <p:spPr>
          <a:xfrm>
            <a:off x="9893447" y="1456408"/>
            <a:ext cx="1621849" cy="351849"/>
          </a:xfrm>
          <a:prstGeom prst="roundRect">
            <a:avLst/>
          </a:prstGeom>
          <a:solidFill>
            <a:srgbClr val="D1D1D1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Audit</a:t>
            </a:r>
            <a:endParaRPr lang="ko-KR" altLang="en-US" sz="1400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7" name="제목 3">
            <a:extLst>
              <a:ext uri="{FF2B5EF4-FFF2-40B4-BE49-F238E27FC236}">
                <a16:creationId xmlns:a16="http://schemas.microsoft.com/office/drawing/2014/main" id="{F5CA3719-8185-C430-E303-5533E8CC7102}"/>
              </a:ext>
            </a:extLst>
          </p:cNvPr>
          <p:cNvSpPr txBox="1">
            <a:spLocks/>
          </p:cNvSpPr>
          <p:nvPr/>
        </p:nvSpPr>
        <p:spPr>
          <a:xfrm>
            <a:off x="5170137" y="784223"/>
            <a:ext cx="6643174" cy="71120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2.2 [Scenario] 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 재현 및 검증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27D2B9E-9D5F-0424-5B75-F539CF36C3E8}"/>
              </a:ext>
            </a:extLst>
          </p:cNvPr>
          <p:cNvSpPr/>
          <p:nvPr/>
        </p:nvSpPr>
        <p:spPr>
          <a:xfrm>
            <a:off x="780068" y="3614303"/>
            <a:ext cx="1621848" cy="56341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Audit</a:t>
            </a:r>
            <a:endParaRPr lang="ko-KR" altLang="en-US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95CB33-2A8B-D640-D47C-C6C78FD4640A}"/>
              </a:ext>
            </a:extLst>
          </p:cNvPr>
          <p:cNvSpPr txBox="1"/>
          <p:nvPr/>
        </p:nvSpPr>
        <p:spPr>
          <a:xfrm>
            <a:off x="1066648" y="4177721"/>
            <a:ext cx="1048685" cy="467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 출력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34AB48F-976E-AD54-3416-3C49877E3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349" y="3429000"/>
            <a:ext cx="785670" cy="7529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168266-885C-6D6C-558E-71DE513935CE}"/>
              </a:ext>
            </a:extLst>
          </p:cNvPr>
          <p:cNvSpPr txBox="1"/>
          <p:nvPr/>
        </p:nvSpPr>
        <p:spPr>
          <a:xfrm>
            <a:off x="2184230" y="4077313"/>
            <a:ext cx="2985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Review Report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출력</a:t>
            </a:r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73CA4B33-243C-E568-6A3F-7E9778B466E8}"/>
              </a:ext>
            </a:extLst>
          </p:cNvPr>
          <p:cNvSpPr/>
          <p:nvPr/>
        </p:nvSpPr>
        <p:spPr>
          <a:xfrm rot="16200000">
            <a:off x="4864219" y="3576989"/>
            <a:ext cx="500942" cy="575570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glow rad="1778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618D3C7-0CE1-6FA3-D46E-7B6AD00D4A8B}"/>
              </a:ext>
            </a:extLst>
          </p:cNvPr>
          <p:cNvSpPr/>
          <p:nvPr/>
        </p:nvSpPr>
        <p:spPr>
          <a:xfrm>
            <a:off x="5695548" y="2452396"/>
            <a:ext cx="2682238" cy="3450650"/>
          </a:xfrm>
          <a:prstGeom prst="roundRect">
            <a:avLst/>
          </a:prstGeom>
          <a:solidFill>
            <a:schemeClr val="accent6">
              <a:lumMod val="40000"/>
              <a:lumOff val="60000"/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164B22E-11F0-117B-6202-B9D14F7DBC12}"/>
              </a:ext>
            </a:extLst>
          </p:cNvPr>
          <p:cNvSpPr/>
          <p:nvPr/>
        </p:nvSpPr>
        <p:spPr>
          <a:xfrm>
            <a:off x="8639565" y="2443160"/>
            <a:ext cx="2682238" cy="3450650"/>
          </a:xfrm>
          <a:prstGeom prst="roundRect">
            <a:avLst/>
          </a:prstGeom>
          <a:solidFill>
            <a:srgbClr val="F89A90">
              <a:alpha val="6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F1567A-EA5B-5534-6296-900490B39F09}"/>
              </a:ext>
            </a:extLst>
          </p:cNvPr>
          <p:cNvSpPr txBox="1"/>
          <p:nvPr/>
        </p:nvSpPr>
        <p:spPr>
          <a:xfrm>
            <a:off x="6370106" y="2291239"/>
            <a:ext cx="1333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glow rad="330200">
                    <a:schemeClr val="bg1">
                      <a:alpha val="60000"/>
                    </a:scheme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Supported</a:t>
            </a:r>
            <a:endParaRPr lang="ko-KR" altLang="en-US" dirty="0">
              <a:solidFill>
                <a:schemeClr val="accent6">
                  <a:lumMod val="60000"/>
                  <a:lumOff val="40000"/>
                </a:schemeClr>
              </a:solidFill>
              <a:effectLst>
                <a:glow rad="330200">
                  <a:schemeClr val="bg1">
                    <a:alpha val="60000"/>
                  </a:schemeClr>
                </a:glow>
              </a:effectLst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BB2E59-BFF1-A68D-327C-A17FB9BCB6AC}"/>
              </a:ext>
            </a:extLst>
          </p:cNvPr>
          <p:cNvSpPr txBox="1"/>
          <p:nvPr/>
        </p:nvSpPr>
        <p:spPr>
          <a:xfrm>
            <a:off x="9180274" y="2258494"/>
            <a:ext cx="1600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7C80"/>
                </a:solidFill>
                <a:effectLst>
                  <a:glow rad="177800">
                    <a:schemeClr val="bg1">
                      <a:alpha val="65000"/>
                    </a:scheme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Unsupported</a:t>
            </a:r>
            <a:endParaRPr lang="ko-KR" altLang="en-US" dirty="0">
              <a:solidFill>
                <a:srgbClr val="FF7C80"/>
              </a:solidFill>
              <a:effectLst>
                <a:glow rad="177800">
                  <a:schemeClr val="bg1">
                    <a:alpha val="65000"/>
                  </a:schemeClr>
                </a:glow>
              </a:effectLst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5290D6-D562-72CE-998A-A4296D488F5B}"/>
              </a:ext>
            </a:extLst>
          </p:cNvPr>
          <p:cNvSpPr txBox="1"/>
          <p:nvPr/>
        </p:nvSpPr>
        <p:spPr>
          <a:xfrm>
            <a:off x="5364361" y="3443571"/>
            <a:ext cx="3375201" cy="154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논문 속 결과와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30000"/>
              </a:lnSpc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결과가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30000"/>
              </a:lnSpc>
            </a:pPr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일치하는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경우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dirty="0">
                <a:solidFill>
                  <a:schemeClr val="accent3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→</a:t>
            </a:r>
            <a:r>
              <a:rPr lang="ko-KR" altLang="en-US" dirty="0">
                <a:solidFill>
                  <a:schemeClr val="accent3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논문 내용 지지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E79BE3-CBF3-665D-D1A1-5F3081C5E372}"/>
              </a:ext>
            </a:extLst>
          </p:cNvPr>
          <p:cNvSpPr txBox="1"/>
          <p:nvPr/>
        </p:nvSpPr>
        <p:spPr>
          <a:xfrm>
            <a:off x="8293083" y="3127518"/>
            <a:ext cx="3375201" cy="2226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논문 속 결과와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30000"/>
              </a:lnSpc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결과가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30000"/>
              </a:lnSpc>
            </a:pPr>
            <a:r>
              <a:rPr lang="ko-KR" altLang="en-US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일치하지</a:t>
            </a:r>
            <a:r>
              <a:rPr lang="en-US" altLang="ko-KR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않는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경우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30000"/>
              </a:lnSpc>
            </a:pPr>
            <a:r>
              <a:rPr lang="ko-KR" altLang="ko-KR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→</a:t>
            </a:r>
            <a:r>
              <a:rPr lang="ko-KR" altLang="en-US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Recompute</a:t>
            </a:r>
            <a:r>
              <a:rPr lang="ko-KR" altLang="en-US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결과와</a:t>
            </a:r>
            <a:endParaRPr lang="en-US" altLang="ko-KR" dirty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30000"/>
              </a:lnSpc>
            </a:pPr>
            <a:r>
              <a:rPr lang="ko-KR" altLang="en-US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논문 속 수치</a:t>
            </a:r>
            <a:endParaRPr lang="en-US" altLang="ko-KR" dirty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30000"/>
              </a:lnSpc>
            </a:pPr>
            <a:r>
              <a:rPr lang="ko-KR" altLang="en-US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대조</a:t>
            </a:r>
            <a:r>
              <a:rPr lang="en-US" altLang="ko-KR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 ∙ 오류 코드 출력</a:t>
            </a:r>
          </a:p>
        </p:txBody>
      </p:sp>
    </p:spTree>
    <p:extLst>
      <p:ext uri="{BB962C8B-B14F-4D97-AF65-F5344CB8AC3E}">
        <p14:creationId xmlns:p14="http://schemas.microsoft.com/office/powerpoint/2010/main" val="205577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D9FF0-71AD-359A-F738-5A06AD606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id="{44354493-A0E2-F6ED-3DF8-6B62AE2194CC}"/>
              </a:ext>
            </a:extLst>
          </p:cNvPr>
          <p:cNvSpPr txBox="1">
            <a:spLocks/>
          </p:cNvSpPr>
          <p:nvPr/>
        </p:nvSpPr>
        <p:spPr>
          <a:xfrm>
            <a:off x="2697019" y="784223"/>
            <a:ext cx="5639666" cy="71120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3.1 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구현 </a:t>
            </a:r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UI/UX 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및 성과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D84FFFD-A028-3D45-7CD1-4E1F785CB735}"/>
              </a:ext>
            </a:extLst>
          </p:cNvPr>
          <p:cNvGrpSpPr/>
          <p:nvPr/>
        </p:nvGrpSpPr>
        <p:grpSpPr>
          <a:xfrm>
            <a:off x="724189" y="626099"/>
            <a:ext cx="2065193" cy="676532"/>
            <a:chOff x="724189" y="626099"/>
            <a:chExt cx="2065193" cy="6765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59F171B-44FB-EC55-693E-23012580BF4B}"/>
                </a:ext>
              </a:extLst>
            </p:cNvPr>
            <p:cNvSpPr/>
            <p:nvPr/>
          </p:nvSpPr>
          <p:spPr>
            <a:xfrm>
              <a:off x="733425" y="784223"/>
              <a:ext cx="1885951" cy="504825"/>
            </a:xfrm>
            <a:prstGeom prst="rect">
              <a:avLst/>
            </a:prstGeom>
            <a:solidFill>
              <a:srgbClr val="003192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0A4FBCB-8FD6-717C-6184-C6DFBCB43D4A}"/>
                </a:ext>
              </a:extLst>
            </p:cNvPr>
            <p:cNvSpPr txBox="1"/>
            <p:nvPr/>
          </p:nvSpPr>
          <p:spPr>
            <a:xfrm>
              <a:off x="724189" y="626099"/>
              <a:ext cx="2065193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3. 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구현 결과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8D9F9B4A-B321-2ED3-8A3F-AB6C19A0D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785" y="2375090"/>
            <a:ext cx="6396430" cy="3781723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D8A7CB4-689D-DABE-EE86-AC4155A3CB37}"/>
              </a:ext>
            </a:extLst>
          </p:cNvPr>
          <p:cNvSpPr/>
          <p:nvPr/>
        </p:nvSpPr>
        <p:spPr>
          <a:xfrm>
            <a:off x="5285076" y="1653548"/>
            <a:ext cx="1621848" cy="563418"/>
          </a:xfrm>
          <a:prstGeom prst="roundRect">
            <a:avLst/>
          </a:prstGeom>
          <a:solidFill>
            <a:srgbClr val="E7F1FB"/>
          </a:solidFill>
          <a:ln w="19050">
            <a:solidFill>
              <a:srgbClr val="3F8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D3F7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Ingest</a:t>
            </a:r>
            <a:endParaRPr lang="ko-KR" altLang="en-US" dirty="0">
              <a:solidFill>
                <a:srgbClr val="0D3F7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238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2C86E-DFD8-B195-3289-72B9DD6E3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id="{384F0C1A-5B3B-F9D1-731C-45D60699FEE9}"/>
              </a:ext>
            </a:extLst>
          </p:cNvPr>
          <p:cNvSpPr txBox="1">
            <a:spLocks/>
          </p:cNvSpPr>
          <p:nvPr/>
        </p:nvSpPr>
        <p:spPr>
          <a:xfrm>
            <a:off x="2697019" y="784223"/>
            <a:ext cx="5639666" cy="71120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3.1 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구현 </a:t>
            </a:r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UI/UX 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및 성과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378E51F-02BA-C5B8-2FA4-2FB3404D9674}"/>
              </a:ext>
            </a:extLst>
          </p:cNvPr>
          <p:cNvGrpSpPr/>
          <p:nvPr/>
        </p:nvGrpSpPr>
        <p:grpSpPr>
          <a:xfrm>
            <a:off x="724189" y="626099"/>
            <a:ext cx="2065193" cy="676532"/>
            <a:chOff x="724189" y="626099"/>
            <a:chExt cx="2065193" cy="6765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F1C14FE-4CFE-DF29-CAA2-508D0C3FC3AB}"/>
                </a:ext>
              </a:extLst>
            </p:cNvPr>
            <p:cNvSpPr/>
            <p:nvPr/>
          </p:nvSpPr>
          <p:spPr>
            <a:xfrm>
              <a:off x="733425" y="784223"/>
              <a:ext cx="1885951" cy="504825"/>
            </a:xfrm>
            <a:prstGeom prst="rect">
              <a:avLst/>
            </a:prstGeom>
            <a:solidFill>
              <a:srgbClr val="003192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A7E8ED2-9AAC-50E7-2431-9A71C8F20A8F}"/>
                </a:ext>
              </a:extLst>
            </p:cNvPr>
            <p:cNvSpPr txBox="1"/>
            <p:nvPr/>
          </p:nvSpPr>
          <p:spPr>
            <a:xfrm>
              <a:off x="724189" y="626099"/>
              <a:ext cx="2065193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3. 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구현 결과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0CFE08F-7590-E40D-C4BD-30A6567B0747}"/>
              </a:ext>
            </a:extLst>
          </p:cNvPr>
          <p:cNvSpPr/>
          <p:nvPr/>
        </p:nvSpPr>
        <p:spPr>
          <a:xfrm>
            <a:off x="5285076" y="1653548"/>
            <a:ext cx="1621848" cy="563418"/>
          </a:xfrm>
          <a:prstGeom prst="roundRect">
            <a:avLst/>
          </a:prstGeom>
          <a:solidFill>
            <a:srgbClr val="E1F4EE"/>
          </a:solidFill>
          <a:ln w="19050">
            <a:solidFill>
              <a:srgbClr val="4BB1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20665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Confirm</a:t>
            </a:r>
            <a:endParaRPr lang="ko-KR" altLang="en-US" dirty="0">
              <a:solidFill>
                <a:srgbClr val="20665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57AF09F-0E56-376D-FEB1-15A7A7EAA6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16" t="10884" r="14297" b="1617"/>
          <a:stretch>
            <a:fillRect/>
          </a:stretch>
        </p:blipFill>
        <p:spPr>
          <a:xfrm>
            <a:off x="1030847" y="2524668"/>
            <a:ext cx="4941328" cy="318191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3D759AE-62F1-2780-8DE9-89E305C92C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06" t="10442" r="14609" b="4265"/>
          <a:stretch>
            <a:fillRect/>
          </a:stretch>
        </p:blipFill>
        <p:spPr>
          <a:xfrm>
            <a:off x="6172200" y="2524668"/>
            <a:ext cx="5019747" cy="318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064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8C1A1-AFC4-A12A-8D1D-E9CCE0726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id="{3CCF8D57-BD21-5937-C2E7-F7F3CD240012}"/>
              </a:ext>
            </a:extLst>
          </p:cNvPr>
          <p:cNvSpPr txBox="1">
            <a:spLocks/>
          </p:cNvSpPr>
          <p:nvPr/>
        </p:nvSpPr>
        <p:spPr>
          <a:xfrm>
            <a:off x="2697019" y="784223"/>
            <a:ext cx="5639666" cy="71120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3.1 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구현 </a:t>
            </a:r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UI/UX 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및 성과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BEB35F9-0751-A106-9F41-8CCB5B351D96}"/>
              </a:ext>
            </a:extLst>
          </p:cNvPr>
          <p:cNvGrpSpPr/>
          <p:nvPr/>
        </p:nvGrpSpPr>
        <p:grpSpPr>
          <a:xfrm>
            <a:off x="724189" y="626099"/>
            <a:ext cx="2065193" cy="676532"/>
            <a:chOff x="724189" y="626099"/>
            <a:chExt cx="2065193" cy="6765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EFFD56F-E7F7-4C0C-83A6-B81FB5F2DC87}"/>
                </a:ext>
              </a:extLst>
            </p:cNvPr>
            <p:cNvSpPr/>
            <p:nvPr/>
          </p:nvSpPr>
          <p:spPr>
            <a:xfrm>
              <a:off x="733425" y="784223"/>
              <a:ext cx="1885951" cy="504825"/>
            </a:xfrm>
            <a:prstGeom prst="rect">
              <a:avLst/>
            </a:prstGeom>
            <a:solidFill>
              <a:srgbClr val="003192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535CCED-7C05-DB67-F308-4D867ECB0FF9}"/>
                </a:ext>
              </a:extLst>
            </p:cNvPr>
            <p:cNvSpPr txBox="1"/>
            <p:nvPr/>
          </p:nvSpPr>
          <p:spPr>
            <a:xfrm>
              <a:off x="724189" y="626099"/>
              <a:ext cx="2065193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3. 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구현 결과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45BD05CE-DFB2-101E-AE3A-BACD3C40F2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15" t="10588" r="14531" b="2059"/>
          <a:stretch>
            <a:fillRect/>
          </a:stretch>
        </p:blipFill>
        <p:spPr>
          <a:xfrm>
            <a:off x="3275205" y="2435227"/>
            <a:ext cx="5641590" cy="363855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96B079E-205C-2477-4BC5-60D6827B97A3}"/>
              </a:ext>
            </a:extLst>
          </p:cNvPr>
          <p:cNvSpPr/>
          <p:nvPr/>
        </p:nvSpPr>
        <p:spPr>
          <a:xfrm>
            <a:off x="5285076" y="1653548"/>
            <a:ext cx="1621848" cy="56341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Audit</a:t>
            </a:r>
            <a:endParaRPr lang="ko-KR" altLang="en-US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91628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95E38-1A1B-B886-8D6F-26BC27E10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원형: 비어 있음 21">
            <a:extLst>
              <a:ext uri="{FF2B5EF4-FFF2-40B4-BE49-F238E27FC236}">
                <a16:creationId xmlns:a16="http://schemas.microsoft.com/office/drawing/2014/main" id="{E6C89A4B-314B-6C17-0EA5-20C584AFC31B}"/>
              </a:ext>
            </a:extLst>
          </p:cNvPr>
          <p:cNvSpPr/>
          <p:nvPr/>
        </p:nvSpPr>
        <p:spPr>
          <a:xfrm>
            <a:off x="5322000" y="4416991"/>
            <a:ext cx="1548000" cy="1548042"/>
          </a:xfrm>
          <a:prstGeom prst="donut">
            <a:avLst/>
          </a:prstGeom>
          <a:solidFill>
            <a:schemeClr val="accent6">
              <a:lumMod val="40000"/>
              <a:lumOff val="6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FE83058-B7E3-6B9E-2A84-DE41EA5924E5}"/>
              </a:ext>
            </a:extLst>
          </p:cNvPr>
          <p:cNvGrpSpPr/>
          <p:nvPr/>
        </p:nvGrpSpPr>
        <p:grpSpPr>
          <a:xfrm>
            <a:off x="724189" y="626099"/>
            <a:ext cx="2065193" cy="676532"/>
            <a:chOff x="724189" y="626099"/>
            <a:chExt cx="2065193" cy="6765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FB68FF8-378E-BECD-7A1F-46D1D112159E}"/>
                </a:ext>
              </a:extLst>
            </p:cNvPr>
            <p:cNvSpPr/>
            <p:nvPr/>
          </p:nvSpPr>
          <p:spPr>
            <a:xfrm>
              <a:off x="733425" y="784223"/>
              <a:ext cx="1885951" cy="504825"/>
            </a:xfrm>
            <a:prstGeom prst="rect">
              <a:avLst/>
            </a:prstGeom>
            <a:solidFill>
              <a:srgbClr val="003192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0FD8E50-0F46-788C-4CC8-6DDB09AF2622}"/>
                </a:ext>
              </a:extLst>
            </p:cNvPr>
            <p:cNvSpPr txBox="1"/>
            <p:nvPr/>
          </p:nvSpPr>
          <p:spPr>
            <a:xfrm>
              <a:off x="724189" y="626099"/>
              <a:ext cx="2065193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3. 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구현 결과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4D7EFB8-6715-EBEC-FC24-949AB6CE3279}"/>
              </a:ext>
            </a:extLst>
          </p:cNvPr>
          <p:cNvSpPr txBox="1"/>
          <p:nvPr/>
        </p:nvSpPr>
        <p:spPr>
          <a:xfrm>
            <a:off x="4003216" y="1605923"/>
            <a:ext cx="4185569" cy="10547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Measure Trace</a:t>
            </a:r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업로드 한 보고서 속</a:t>
            </a:r>
            <a:endParaRPr lang="en-US" altLang="ko-KR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숨겨진 오류</a:t>
            </a:r>
            <a:endParaRPr lang="en-US" altLang="ko-KR" sz="2400" dirty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9E4FD0-2E5E-BFD0-89A9-C2B3495049FD}"/>
              </a:ext>
            </a:extLst>
          </p:cNvPr>
          <p:cNvSpPr txBox="1"/>
          <p:nvPr/>
        </p:nvSpPr>
        <p:spPr>
          <a:xfrm>
            <a:off x="5149266" y="2800149"/>
            <a:ext cx="18934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>
                <a:effectLst>
                  <a:glow rad="101600">
                    <a:srgbClr val="FFFF00">
                      <a:alpha val="60000"/>
                    </a:srgb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“11</a:t>
            </a:r>
            <a:r>
              <a:rPr lang="ko-KR" altLang="en-US" sz="4800" dirty="0">
                <a:effectLst>
                  <a:glow rad="101600">
                    <a:srgbClr val="FFFF00">
                      <a:alpha val="60000"/>
                    </a:srgb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개</a:t>
            </a:r>
            <a:r>
              <a:rPr lang="en-US" altLang="ko-KR" sz="4800" dirty="0">
                <a:effectLst>
                  <a:glow rad="101600">
                    <a:srgbClr val="FFFF00">
                      <a:alpha val="60000"/>
                    </a:srgb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endParaRPr lang="ko-KR" altLang="en-US" sz="4800" dirty="0">
              <a:effectLst>
                <a:glow rad="101600">
                  <a:srgbClr val="FFFF00">
                    <a:alpha val="60000"/>
                  </a:srgbClr>
                </a:glow>
              </a:effectLst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795AB9-484A-0EF5-57B3-536C298C458A}"/>
              </a:ext>
            </a:extLst>
          </p:cNvPr>
          <p:cNvSpPr txBox="1"/>
          <p:nvPr/>
        </p:nvSpPr>
        <p:spPr>
          <a:xfrm>
            <a:off x="3294143" y="3770660"/>
            <a:ext cx="5603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Measure Trace </a:t>
            </a:r>
            <a:r>
              <a:rPr lang="ko-KR" altLang="en-US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잡아낸 오류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FEF2FF-4C2A-2359-4269-B3C9C345AA42}"/>
              </a:ext>
            </a:extLst>
          </p:cNvPr>
          <p:cNvSpPr txBox="1"/>
          <p:nvPr/>
        </p:nvSpPr>
        <p:spPr>
          <a:xfrm>
            <a:off x="5179312" y="4837069"/>
            <a:ext cx="17171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→11</a:t>
            </a:r>
            <a:r>
              <a:rPr lang="ko-KR" altLang="en-US" sz="4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개</a:t>
            </a:r>
          </a:p>
        </p:txBody>
      </p:sp>
      <p:sp>
        <p:nvSpPr>
          <p:cNvPr id="27" name="제목 3">
            <a:extLst>
              <a:ext uri="{FF2B5EF4-FFF2-40B4-BE49-F238E27FC236}">
                <a16:creationId xmlns:a16="http://schemas.microsoft.com/office/drawing/2014/main" id="{1FC7A96A-20A4-3E2B-26FE-2E32016D20A3}"/>
              </a:ext>
            </a:extLst>
          </p:cNvPr>
          <p:cNvSpPr txBox="1">
            <a:spLocks/>
          </p:cNvSpPr>
          <p:nvPr/>
        </p:nvSpPr>
        <p:spPr>
          <a:xfrm>
            <a:off x="2697019" y="784223"/>
            <a:ext cx="5639666" cy="71120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3.1 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구현 </a:t>
            </a:r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UI/UX 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및 성과</a:t>
            </a:r>
          </a:p>
        </p:txBody>
      </p:sp>
    </p:spTree>
    <p:extLst>
      <p:ext uri="{BB962C8B-B14F-4D97-AF65-F5344CB8AC3E}">
        <p14:creationId xmlns:p14="http://schemas.microsoft.com/office/powerpoint/2010/main" val="68447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0" grpId="0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67FED-0B30-FC2C-F087-F57F21C72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id="{DF2B588C-E079-E141-000D-00D7FBAB8B82}"/>
              </a:ext>
            </a:extLst>
          </p:cNvPr>
          <p:cNvSpPr txBox="1">
            <a:spLocks/>
          </p:cNvSpPr>
          <p:nvPr/>
        </p:nvSpPr>
        <p:spPr>
          <a:xfrm>
            <a:off x="2697019" y="784223"/>
            <a:ext cx="5639666" cy="71120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3.2 Measure Trace </a:t>
            </a:r>
            <a:r>
              <a:rPr lang="ko-KR" altLang="en-US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발전 가능성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DD1D689-8718-B21B-974F-B8ED37C79B37}"/>
              </a:ext>
            </a:extLst>
          </p:cNvPr>
          <p:cNvGrpSpPr/>
          <p:nvPr/>
        </p:nvGrpSpPr>
        <p:grpSpPr>
          <a:xfrm>
            <a:off x="724189" y="626099"/>
            <a:ext cx="2065193" cy="676532"/>
            <a:chOff x="724189" y="626099"/>
            <a:chExt cx="2065193" cy="6765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AFE3602-2EEF-853F-1896-A84E3BD5F058}"/>
                </a:ext>
              </a:extLst>
            </p:cNvPr>
            <p:cNvSpPr/>
            <p:nvPr/>
          </p:nvSpPr>
          <p:spPr>
            <a:xfrm>
              <a:off x="733425" y="784223"/>
              <a:ext cx="1885951" cy="504825"/>
            </a:xfrm>
            <a:prstGeom prst="rect">
              <a:avLst/>
            </a:prstGeom>
            <a:solidFill>
              <a:srgbClr val="003192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1C16489-BCDE-17E4-D7F4-B3BE3E0BFDD7}"/>
                </a:ext>
              </a:extLst>
            </p:cNvPr>
            <p:cNvSpPr txBox="1"/>
            <p:nvPr/>
          </p:nvSpPr>
          <p:spPr>
            <a:xfrm>
              <a:off x="724189" y="626099"/>
              <a:ext cx="2065193" cy="676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3. </a:t>
              </a:r>
              <a:r>
                <a:rPr lang="ko-KR" altLang="en-US" sz="2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구현 결과</a:t>
              </a:r>
              <a:endParaRPr lang="en-US" altLang="ko-KR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64EE762-8F3E-3FFE-7E20-46ECD7FFAF4E}"/>
              </a:ext>
            </a:extLst>
          </p:cNvPr>
          <p:cNvSpPr txBox="1"/>
          <p:nvPr/>
        </p:nvSpPr>
        <p:spPr>
          <a:xfrm>
            <a:off x="2263704" y="2373233"/>
            <a:ext cx="236795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600" dirty="0">
                <a:effectLst>
                  <a:glow rad="101600">
                    <a:schemeClr val="tx2">
                      <a:lumMod val="50000"/>
                      <a:lumOff val="50000"/>
                      <a:alpha val="60000"/>
                    </a:scheme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정확성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2CEAE3-4986-74A5-E22C-05396870F955}"/>
              </a:ext>
            </a:extLst>
          </p:cNvPr>
          <p:cNvSpPr txBox="1"/>
          <p:nvPr/>
        </p:nvSpPr>
        <p:spPr>
          <a:xfrm>
            <a:off x="7436517" y="2373233"/>
            <a:ext cx="240963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600" dirty="0">
                <a:effectLst>
                  <a:glow rad="101600">
                    <a:srgbClr val="92D050">
                      <a:alpha val="60000"/>
                    </a:srgb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재현성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8BEA23-C1A3-CC38-6F42-554420FB584A}"/>
              </a:ext>
            </a:extLst>
          </p:cNvPr>
          <p:cNvSpPr txBox="1"/>
          <p:nvPr/>
        </p:nvSpPr>
        <p:spPr>
          <a:xfrm>
            <a:off x="1063856" y="3636528"/>
            <a:ext cx="4767652" cy="1714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① LLM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스스로 짠 계산 코드는 정확도가 낮다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ko-KR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→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dirty="0" err="1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Sympy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이중 점검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② LLM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보고서를 읽는 과정에서 오류가 발생한다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ko-KR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→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dirty="0" err="1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pySBD</a:t>
            </a:r>
            <a:r>
              <a:rPr lang="en-US" altLang="ko-KR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라이브러리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해결 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97BF65-E269-71E9-C4CB-80B1FD799CB7}"/>
              </a:ext>
            </a:extLst>
          </p:cNvPr>
          <p:cNvSpPr txBox="1"/>
          <p:nvPr/>
        </p:nvSpPr>
        <p:spPr>
          <a:xfrm>
            <a:off x="6186674" y="3661928"/>
            <a:ext cx="4984057" cy="1714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①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같은 데이터여도 여러 번 계산하면 값을 </a:t>
            </a:r>
            <a:r>
              <a:rPr lang="ko-KR" altLang="en-US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끼워맞춘다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ko-KR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→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보고서를 열기 전 코드를 작성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해 방지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② LLM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짜는 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python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코드는 매번 바뀐다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ko-KR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→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파이썬 </a:t>
            </a:r>
            <a:r>
              <a:rPr lang="ko-KR" altLang="en-US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코드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</a:t>
            </a:r>
            <a:r>
              <a:rPr lang="ko-KR" altLang="en-US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해시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부여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B7F6E4B-4F6F-2223-29BA-5E88A72695FE}"/>
              </a:ext>
            </a:extLst>
          </p:cNvPr>
          <p:cNvSpPr/>
          <p:nvPr/>
        </p:nvSpPr>
        <p:spPr>
          <a:xfrm>
            <a:off x="420485" y="1302631"/>
            <a:ext cx="11351030" cy="5209005"/>
          </a:xfrm>
          <a:prstGeom prst="rect">
            <a:avLst/>
          </a:prstGeom>
          <a:solidFill>
            <a:schemeClr val="bg2">
              <a:lumMod val="25000"/>
              <a:alpha val="72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BBDE9E-160B-AD18-417F-CF23EC064F39}"/>
              </a:ext>
            </a:extLst>
          </p:cNvPr>
          <p:cNvSpPr txBox="1"/>
          <p:nvPr/>
        </p:nvSpPr>
        <p:spPr>
          <a:xfrm>
            <a:off x="2576551" y="3085352"/>
            <a:ext cx="7220245" cy="1969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>
                <a:effectLst>
                  <a:glow rad="203200">
                    <a:srgbClr val="FFFF00">
                      <a:alpha val="60000"/>
                    </a:srgb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아직은 작은 데이터로 구현했지만</a:t>
            </a:r>
            <a:r>
              <a:rPr lang="en-US" altLang="ko-KR" sz="2800" dirty="0">
                <a:effectLst>
                  <a:glow rad="203200">
                    <a:srgbClr val="FFFF00">
                      <a:alpha val="60000"/>
                    </a:srgb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sz="2800" dirty="0">
                <a:solidFill>
                  <a:srgbClr val="FF0000"/>
                </a:solidFill>
                <a:effectLst>
                  <a:glow rad="203200">
                    <a:srgbClr val="FFFF00">
                      <a:alpha val="60000"/>
                    </a:srgb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충분한 실험 계획서</a:t>
            </a:r>
            <a:r>
              <a:rPr lang="ko-KR" altLang="en-US" sz="2800" dirty="0">
                <a:effectLst>
                  <a:glow rad="203200">
                    <a:srgbClr val="FFFF00">
                      <a:alpha val="60000"/>
                    </a:srgb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있다면 더 큰 프로젝트에서도</a:t>
            </a:r>
            <a:endParaRPr lang="en-US" altLang="ko-KR" sz="2800" dirty="0">
              <a:effectLst>
                <a:glow rad="203200">
                  <a:srgbClr val="FFFF00">
                    <a:alpha val="60000"/>
                  </a:srgbClr>
                </a:glow>
              </a:effectLst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800" dirty="0">
                <a:effectLst>
                  <a:glow rad="203200">
                    <a:srgbClr val="FFFF00">
                      <a:alpha val="60000"/>
                    </a:srgb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사용할 수 있을 것이라 생각합니다</a:t>
            </a:r>
            <a:r>
              <a:rPr lang="en-US" altLang="ko-KR" sz="2800" dirty="0">
                <a:effectLst>
                  <a:glow rad="203200">
                    <a:srgbClr val="FFFF00">
                      <a:alpha val="60000"/>
                    </a:srgb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sz="2800" dirty="0">
              <a:effectLst>
                <a:glow rad="203200">
                  <a:srgbClr val="FFFF00">
                    <a:alpha val="60000"/>
                  </a:srgbClr>
                </a:glow>
              </a:effectLst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1556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29D34-CF1B-DB5D-FE22-A7351CAAE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0E7BA16-7C48-7167-D46C-E880C06009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CE5CAAC-8A5C-DDBA-DDC9-1DEA389AB4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24693" b="23630"/>
          <a:stretch>
            <a:fillRect/>
          </a:stretch>
        </p:blipFill>
        <p:spPr>
          <a:xfrm>
            <a:off x="6231637" y="813525"/>
            <a:ext cx="5960364" cy="60444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D5DC9D-04F5-6076-6F67-12DBD54168DA}"/>
              </a:ext>
            </a:extLst>
          </p:cNvPr>
          <p:cNvSpPr txBox="1"/>
          <p:nvPr/>
        </p:nvSpPr>
        <p:spPr>
          <a:xfrm>
            <a:off x="628650" y="3639602"/>
            <a:ext cx="12971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 err="1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QnA</a:t>
            </a:r>
            <a:endParaRPr lang="ko-KR" altLang="en-US" sz="4400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59DBAB-59CB-7C24-E0D2-D088A6884AA0}"/>
              </a:ext>
            </a:extLst>
          </p:cNvPr>
          <p:cNvSpPr txBox="1"/>
          <p:nvPr/>
        </p:nvSpPr>
        <p:spPr>
          <a:xfrm>
            <a:off x="628650" y="4754345"/>
            <a:ext cx="35445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err="1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나원</a:t>
            </a:r>
            <a:r>
              <a:rPr lang="en-US" altLang="ko-KR" sz="14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AI] </a:t>
            </a:r>
            <a:r>
              <a:rPr lang="ko-KR" altLang="en-US" sz="1400" dirty="0" err="1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고연준</a:t>
            </a:r>
            <a:r>
              <a:rPr lang="en-US" altLang="ko-KR" sz="14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 err="1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성현중</a:t>
            </a:r>
            <a:r>
              <a:rPr lang="en-US" altLang="ko-KR" sz="14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 err="1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양서경</a:t>
            </a:r>
            <a:r>
              <a:rPr lang="en-US" altLang="ko-KR" sz="14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이나원</a:t>
            </a:r>
            <a:r>
              <a:rPr lang="en-US" altLang="ko-KR" sz="14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 err="1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형원희</a:t>
            </a:r>
            <a:endParaRPr lang="ko-KR" altLang="en-US" sz="1400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4B000C-2506-0953-3080-F7790BF6C0E3}"/>
              </a:ext>
            </a:extLst>
          </p:cNvPr>
          <p:cNvSpPr txBox="1"/>
          <p:nvPr/>
        </p:nvSpPr>
        <p:spPr>
          <a:xfrm>
            <a:off x="628650" y="5047751"/>
            <a:ext cx="1117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성균관대학교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F2C6E-777F-6955-C0B0-C7B0B15E77A3}"/>
              </a:ext>
            </a:extLst>
          </p:cNvPr>
          <p:cNvSpPr txBox="1"/>
          <p:nvPr/>
        </p:nvSpPr>
        <p:spPr>
          <a:xfrm>
            <a:off x="628650" y="2316163"/>
            <a:ext cx="9734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0" dirty="0">
                <a:solidFill>
                  <a:schemeClr val="bg1"/>
                </a:solidFill>
                <a:effectLst>
                  <a:glow rad="101600">
                    <a:schemeClr val="bg2">
                      <a:lumMod val="50000"/>
                      <a:alpha val="60000"/>
                    </a:scheme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감사합니다</a:t>
            </a:r>
            <a:r>
              <a:rPr lang="en-US" altLang="ko-KR" sz="8000" dirty="0">
                <a:solidFill>
                  <a:schemeClr val="bg1"/>
                </a:solidFill>
                <a:effectLst>
                  <a:glow rad="101600">
                    <a:schemeClr val="bg2">
                      <a:lumMod val="50000"/>
                      <a:alpha val="60000"/>
                    </a:schemeClr>
                  </a:glo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sz="8000" dirty="0">
              <a:solidFill>
                <a:schemeClr val="bg1"/>
              </a:solidFill>
              <a:effectLst>
                <a:glow rad="101600">
                  <a:schemeClr val="bg2">
                    <a:lumMod val="50000"/>
                    <a:alpha val="60000"/>
                  </a:schemeClr>
                </a:glow>
              </a:effectLst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8254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2007</TotalTime>
  <Words>1499</Words>
  <Application>Microsoft Office PowerPoint</Application>
  <PresentationFormat>와이드스크린</PresentationFormat>
  <Paragraphs>447</Paragraphs>
  <Slides>31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7" baseType="lpstr">
      <vt:lpstr>나눔스퀘어_ac Bold</vt:lpstr>
      <vt:lpstr>나눔스퀘어_ac</vt:lpstr>
      <vt:lpstr>맑은 고딕</vt:lpstr>
      <vt:lpstr>Cambria Math</vt:lpstr>
      <vt:lpstr>Arial</vt:lpstr>
      <vt:lpstr>Office 테마</vt:lpstr>
      <vt:lpstr>PowerPoint 프레젠테이션</vt:lpstr>
      <vt:lpstr>목차</vt:lpstr>
      <vt:lpstr>1.1 서비스 개요 ∙ 필요성</vt:lpstr>
      <vt:lpstr>1.1 서비스 개요 ∙ 필요성</vt:lpstr>
      <vt:lpstr>1.1 서비스 개요 ∙ 필요성</vt:lpstr>
      <vt:lpstr>1.1 서비스 개요 ∙ 필요성</vt:lpstr>
      <vt:lpstr>1.２ 전체 검증 파이프라인</vt:lpstr>
      <vt:lpstr>1.２ 전체 검증 파이프라인</vt:lpstr>
      <vt:lpstr>1.２ 전체 검증 파이프라인</vt:lpstr>
      <vt:lpstr>1.２ 전체 검증 프로세스</vt:lpstr>
      <vt:lpstr>1.3 AI∙Python∙사용자 역할 구분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이나원</dc:creator>
  <cp:lastModifiedBy>이나원</cp:lastModifiedBy>
  <cp:revision>41</cp:revision>
  <dcterms:created xsi:type="dcterms:W3CDTF">2026-09-28T06:04:13Z</dcterms:created>
  <dcterms:modified xsi:type="dcterms:W3CDTF">2026-09-30T23:52:34Z</dcterms:modified>
</cp:coreProperties>
</file>